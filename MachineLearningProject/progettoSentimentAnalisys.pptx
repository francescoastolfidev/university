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309" r:id="rId4"/>
    <p:sldId id="258" r:id="rId5"/>
    <p:sldId id="259" r:id="rId6"/>
    <p:sldId id="260" r:id="rId7"/>
    <p:sldId id="303" r:id="rId8"/>
    <p:sldId id="302" r:id="rId9"/>
    <p:sldId id="304" r:id="rId10"/>
    <p:sldId id="305" r:id="rId11"/>
    <p:sldId id="306" r:id="rId12"/>
    <p:sldId id="312" r:id="rId13"/>
    <p:sldId id="313" r:id="rId14"/>
    <p:sldId id="261" r:id="rId15"/>
    <p:sldId id="308" r:id="rId16"/>
    <p:sldId id="310" r:id="rId17"/>
    <p:sldId id="311" r:id="rId18"/>
  </p:sldIdLst>
  <p:sldSz cx="5765800" cy="3244850"/>
  <p:notesSz cx="5765800" cy="3244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F78D3"/>
    <a:srgbClr val="F4F4F4"/>
    <a:srgbClr val="DBDBDB"/>
    <a:srgbClr val="E7F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9"/>
    <p:restoredTop sz="94682"/>
  </p:normalViewPr>
  <p:slideViewPr>
    <p:cSldViewPr>
      <p:cViewPr varScale="1">
        <p:scale>
          <a:sx n="286" d="100"/>
          <a:sy n="286" d="100"/>
        </p:scale>
        <p:origin x="528" y="19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498725" cy="161925"/>
          </a:xfrm>
          <a:prstGeom prst="rect">
            <a:avLst/>
          </a:prstGeom>
        </p:spPr>
        <p:txBody>
          <a:bodyPr vert="horz" lIns="91440" tIns="45720" rIns="91440" bIns="45720" rtlCol="0"/>
          <a:lstStyle>
            <a:lvl1pPr algn="l">
              <a:defRPr sz="1200"/>
            </a:lvl1pPr>
          </a:lstStyle>
          <a:p>
            <a:endParaRPr lang="en-US"/>
          </a:p>
        </p:txBody>
      </p:sp>
      <p:sp>
        <p:nvSpPr>
          <p:cNvPr id="3" name="Segnaposto data 2"/>
          <p:cNvSpPr>
            <a:spLocks noGrp="1"/>
          </p:cNvSpPr>
          <p:nvPr>
            <p:ph type="dt" idx="1"/>
          </p:nvPr>
        </p:nvSpPr>
        <p:spPr>
          <a:xfrm>
            <a:off x="3265488" y="0"/>
            <a:ext cx="2498725" cy="161925"/>
          </a:xfrm>
          <a:prstGeom prst="rect">
            <a:avLst/>
          </a:prstGeom>
        </p:spPr>
        <p:txBody>
          <a:bodyPr vert="horz" lIns="91440" tIns="45720" rIns="91440" bIns="45720" rtlCol="0"/>
          <a:lstStyle>
            <a:lvl1pPr algn="r">
              <a:defRPr sz="1200"/>
            </a:lvl1pPr>
          </a:lstStyle>
          <a:p>
            <a:fld id="{8FF0128C-7DD9-A94A-925E-37F769609D98}" type="datetimeFigureOut">
              <a:rPr lang="en-US" smtClean="0"/>
              <a:t>3/2/25</a:t>
            </a:fld>
            <a:endParaRPr lang="en-US"/>
          </a:p>
        </p:txBody>
      </p:sp>
      <p:sp>
        <p:nvSpPr>
          <p:cNvPr id="4" name="Segnaposto immagine diapositiva 3"/>
          <p:cNvSpPr>
            <a:spLocks noGrp="1" noRot="1" noChangeAspect="1"/>
          </p:cNvSpPr>
          <p:nvPr>
            <p:ph type="sldImg" idx="2"/>
          </p:nvPr>
        </p:nvSpPr>
        <p:spPr>
          <a:xfrm>
            <a:off x="1911350" y="406400"/>
            <a:ext cx="1943100" cy="1093788"/>
          </a:xfrm>
          <a:prstGeom prst="rect">
            <a:avLst/>
          </a:prstGeom>
          <a:noFill/>
          <a:ln w="12700">
            <a:solidFill>
              <a:prstClr val="black"/>
            </a:solidFill>
          </a:ln>
        </p:spPr>
        <p:txBody>
          <a:bodyPr vert="horz" lIns="91440" tIns="45720" rIns="91440" bIns="45720" rtlCol="0" anchor="ctr"/>
          <a:lstStyle/>
          <a:p>
            <a:endParaRPr lang="en-US"/>
          </a:p>
        </p:txBody>
      </p:sp>
      <p:sp>
        <p:nvSpPr>
          <p:cNvPr id="5" name="Segnaposto note 4"/>
          <p:cNvSpPr>
            <a:spLocks noGrp="1"/>
          </p:cNvSpPr>
          <p:nvPr>
            <p:ph type="body" sz="quarter" idx="3"/>
          </p:nvPr>
        </p:nvSpPr>
        <p:spPr>
          <a:xfrm>
            <a:off x="576263" y="1562100"/>
            <a:ext cx="4613275" cy="1277938"/>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6" name="Segnaposto piè di pagina 5"/>
          <p:cNvSpPr>
            <a:spLocks noGrp="1"/>
          </p:cNvSpPr>
          <p:nvPr>
            <p:ph type="ftr" sz="quarter" idx="4"/>
          </p:nvPr>
        </p:nvSpPr>
        <p:spPr>
          <a:xfrm>
            <a:off x="0" y="3082925"/>
            <a:ext cx="2498725" cy="161925"/>
          </a:xfrm>
          <a:prstGeom prst="rect">
            <a:avLst/>
          </a:prstGeom>
        </p:spPr>
        <p:txBody>
          <a:bodyPr vert="horz" lIns="91440" tIns="45720" rIns="91440" bIns="45720" rtlCol="0" anchor="b"/>
          <a:lstStyle>
            <a:lvl1pPr algn="l">
              <a:defRPr sz="1200"/>
            </a:lvl1pPr>
          </a:lstStyle>
          <a:p>
            <a:endParaRPr lang="en-US"/>
          </a:p>
        </p:txBody>
      </p:sp>
      <p:sp>
        <p:nvSpPr>
          <p:cNvPr id="7" name="Segnaposto numero diapositiva 6"/>
          <p:cNvSpPr>
            <a:spLocks noGrp="1"/>
          </p:cNvSpPr>
          <p:nvPr>
            <p:ph type="sldNum" sz="quarter" idx="5"/>
          </p:nvPr>
        </p:nvSpPr>
        <p:spPr>
          <a:xfrm>
            <a:off x="3265488" y="3082925"/>
            <a:ext cx="2498725" cy="161925"/>
          </a:xfrm>
          <a:prstGeom prst="rect">
            <a:avLst/>
          </a:prstGeom>
        </p:spPr>
        <p:txBody>
          <a:bodyPr vert="horz" lIns="91440" tIns="45720" rIns="91440" bIns="45720" rtlCol="0" anchor="b"/>
          <a:lstStyle>
            <a:lvl1pPr algn="r">
              <a:defRPr sz="1200"/>
            </a:lvl1pPr>
          </a:lstStyle>
          <a:p>
            <a:fld id="{781A4261-1FB3-9147-8ECA-B8A9920FF14E}" type="slidenum">
              <a:rPr lang="en-US" smtClean="0"/>
              <a:t>‹N›</a:t>
            </a:fld>
            <a:endParaRPr lang="en-US"/>
          </a:p>
        </p:txBody>
      </p:sp>
    </p:spTree>
    <p:extLst>
      <p:ext uri="{BB962C8B-B14F-4D97-AF65-F5344CB8AC3E}">
        <p14:creationId xmlns:p14="http://schemas.microsoft.com/office/powerpoint/2010/main" val="25974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dirty="0"/>
          </a:p>
        </p:txBody>
      </p:sp>
      <p:sp>
        <p:nvSpPr>
          <p:cNvPr id="4" name="Segnaposto numero diapositiva 3"/>
          <p:cNvSpPr>
            <a:spLocks noGrp="1"/>
          </p:cNvSpPr>
          <p:nvPr>
            <p:ph type="sldNum" sz="quarter" idx="5"/>
          </p:nvPr>
        </p:nvSpPr>
        <p:spPr/>
        <p:txBody>
          <a:bodyPr/>
          <a:lstStyle/>
          <a:p>
            <a:fld id="{781A4261-1FB3-9147-8ECA-B8A9920FF14E}" type="slidenum">
              <a:rPr lang="en-US" smtClean="0"/>
              <a:t>4</a:t>
            </a:fld>
            <a:endParaRPr lang="en-US"/>
          </a:p>
        </p:txBody>
      </p:sp>
    </p:spTree>
    <p:extLst>
      <p:ext uri="{BB962C8B-B14F-4D97-AF65-F5344CB8AC3E}">
        <p14:creationId xmlns:p14="http://schemas.microsoft.com/office/powerpoint/2010/main" val="73646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32435" y="1005903"/>
            <a:ext cx="4900930" cy="681418"/>
          </a:xfrm>
          <a:prstGeom prst="rect">
            <a:avLst/>
          </a:prstGeom>
        </p:spPr>
        <p:txBody>
          <a:bodyPr wrap="square" lIns="0" tIns="0" rIns="0" bIns="0">
            <a:spAutoFit/>
          </a:bodyPr>
          <a:lstStyle>
            <a:lvl1pPr>
              <a:defRPr sz="1700" b="1" i="0">
                <a:solidFill>
                  <a:srgbClr val="3F78D2"/>
                </a:solidFill>
                <a:latin typeface="Arial"/>
                <a:cs typeface="Arial"/>
              </a:defRPr>
            </a:lvl1pPr>
          </a:lstStyle>
          <a:p>
            <a:endParaRPr/>
          </a:p>
        </p:txBody>
      </p:sp>
      <p:sp>
        <p:nvSpPr>
          <p:cNvPr id="3" name="Holder 3"/>
          <p:cNvSpPr>
            <a:spLocks noGrp="1"/>
          </p:cNvSpPr>
          <p:nvPr>
            <p:ph type="subTitle" idx="4"/>
          </p:nvPr>
        </p:nvSpPr>
        <p:spPr>
          <a:xfrm>
            <a:off x="864870" y="1817116"/>
            <a:ext cx="4036060" cy="811212"/>
          </a:xfrm>
          <a:prstGeom prst="rect">
            <a:avLst/>
          </a:prstGeom>
        </p:spPr>
        <p:txBody>
          <a:bodyPr wrap="square" lIns="0" tIns="0" rIns="0" bIns="0">
            <a:spAutoFit/>
          </a:bodyPr>
          <a:lstStyle>
            <a:lvl1pPr>
              <a:defRPr sz="12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3/2/25</a:t>
            </a:fld>
            <a:endParaRPr lang="en-US"/>
          </a:p>
        </p:txBody>
      </p:sp>
      <p:sp>
        <p:nvSpPr>
          <p:cNvPr id="6" name="Holder 6"/>
          <p:cNvSpPr>
            <a:spLocks noGrp="1"/>
          </p:cNvSpPr>
          <p:nvPr>
            <p:ph type="sldNum" sz="quarter" idx="7"/>
          </p:nvPr>
        </p:nvSpPr>
        <p:spPr/>
        <p:txBody>
          <a:bodyPr lIns="0" tIns="0" rIns="0" bIns="0"/>
          <a:lstStyle>
            <a:lvl1pPr>
              <a:defRPr sz="600" b="0" i="0">
                <a:solidFill>
                  <a:srgbClr val="7F7F7F"/>
                </a:solidFill>
                <a:latin typeface="Arial"/>
                <a:cs typeface="Arial"/>
              </a:defRPr>
            </a:lvl1pPr>
          </a:lstStyle>
          <a:p>
            <a:pPr marL="38100">
              <a:lnSpc>
                <a:spcPts val="705"/>
              </a:lnSpc>
            </a:pPr>
            <a:fld id="{81D60167-4931-47E6-BA6A-407CBD079E47}" type="slidenum">
              <a:rPr spc="-25" dirty="0"/>
              <a:t>‹N›</a:t>
            </a:fld>
            <a:endParaRPr spc="-25"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700" b="1" i="0">
                <a:solidFill>
                  <a:srgbClr val="3F78D2"/>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2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3/2/25</a:t>
            </a:fld>
            <a:endParaRPr lang="en-US"/>
          </a:p>
        </p:txBody>
      </p:sp>
      <p:sp>
        <p:nvSpPr>
          <p:cNvPr id="6" name="Holder 6"/>
          <p:cNvSpPr>
            <a:spLocks noGrp="1"/>
          </p:cNvSpPr>
          <p:nvPr>
            <p:ph type="sldNum" sz="quarter" idx="7"/>
          </p:nvPr>
        </p:nvSpPr>
        <p:spPr/>
        <p:txBody>
          <a:bodyPr lIns="0" tIns="0" rIns="0" bIns="0"/>
          <a:lstStyle>
            <a:lvl1pPr>
              <a:defRPr sz="600" b="0" i="0">
                <a:solidFill>
                  <a:srgbClr val="7F7F7F"/>
                </a:solidFill>
                <a:latin typeface="Arial"/>
                <a:cs typeface="Arial"/>
              </a:defRPr>
            </a:lvl1pPr>
          </a:lstStyle>
          <a:p>
            <a:pPr marL="38100">
              <a:lnSpc>
                <a:spcPts val="705"/>
              </a:lnSpc>
            </a:pPr>
            <a:fld id="{81D60167-4931-47E6-BA6A-407CBD079E47}" type="slidenum">
              <a:rPr spc="-25" dirty="0"/>
              <a:t>‹N›</a:t>
            </a:fld>
            <a:endParaRPr spc="-25"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700" b="1" i="0">
                <a:solidFill>
                  <a:srgbClr val="3F78D2"/>
                </a:solidFill>
                <a:latin typeface="Arial"/>
                <a:cs typeface="Arial"/>
              </a:defRPr>
            </a:lvl1pPr>
          </a:lstStyle>
          <a:p>
            <a:endParaRPr/>
          </a:p>
        </p:txBody>
      </p:sp>
      <p:sp>
        <p:nvSpPr>
          <p:cNvPr id="3" name="Holder 3"/>
          <p:cNvSpPr>
            <a:spLocks noGrp="1"/>
          </p:cNvSpPr>
          <p:nvPr>
            <p:ph sz="half" idx="2"/>
          </p:nvPr>
        </p:nvSpPr>
        <p:spPr>
          <a:xfrm>
            <a:off x="288290" y="746315"/>
            <a:ext cx="2508123" cy="214160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969387" y="746315"/>
            <a:ext cx="2508123" cy="214160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3/2/25</a:t>
            </a:fld>
            <a:endParaRPr lang="en-US"/>
          </a:p>
        </p:txBody>
      </p:sp>
      <p:sp>
        <p:nvSpPr>
          <p:cNvPr id="7" name="Holder 7"/>
          <p:cNvSpPr>
            <a:spLocks noGrp="1"/>
          </p:cNvSpPr>
          <p:nvPr>
            <p:ph type="sldNum" sz="quarter" idx="7"/>
          </p:nvPr>
        </p:nvSpPr>
        <p:spPr/>
        <p:txBody>
          <a:bodyPr lIns="0" tIns="0" rIns="0" bIns="0"/>
          <a:lstStyle>
            <a:lvl1pPr>
              <a:defRPr sz="600" b="0" i="0">
                <a:solidFill>
                  <a:srgbClr val="7F7F7F"/>
                </a:solidFill>
                <a:latin typeface="Arial"/>
                <a:cs typeface="Arial"/>
              </a:defRPr>
            </a:lvl1pPr>
          </a:lstStyle>
          <a:p>
            <a:pPr marL="38100">
              <a:lnSpc>
                <a:spcPts val="705"/>
              </a:lnSpc>
            </a:pPr>
            <a:fld id="{81D60167-4931-47E6-BA6A-407CBD079E47}" type="slidenum">
              <a:rPr spc="-25" dirty="0"/>
              <a:t>‹N›</a:t>
            </a:fld>
            <a:endParaRPr spc="-25"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700" b="1" i="0">
                <a:solidFill>
                  <a:srgbClr val="3F78D2"/>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3/2/25</a:t>
            </a:fld>
            <a:endParaRPr lang="en-US"/>
          </a:p>
        </p:txBody>
      </p:sp>
      <p:sp>
        <p:nvSpPr>
          <p:cNvPr id="5" name="Holder 5"/>
          <p:cNvSpPr>
            <a:spLocks noGrp="1"/>
          </p:cNvSpPr>
          <p:nvPr>
            <p:ph type="sldNum" sz="quarter" idx="7"/>
          </p:nvPr>
        </p:nvSpPr>
        <p:spPr/>
        <p:txBody>
          <a:bodyPr lIns="0" tIns="0" rIns="0" bIns="0"/>
          <a:lstStyle>
            <a:lvl1pPr>
              <a:defRPr sz="600" b="0" i="0">
                <a:solidFill>
                  <a:srgbClr val="7F7F7F"/>
                </a:solidFill>
                <a:latin typeface="Arial"/>
                <a:cs typeface="Arial"/>
              </a:defRPr>
            </a:lvl1pPr>
          </a:lstStyle>
          <a:p>
            <a:pPr marL="38100">
              <a:lnSpc>
                <a:spcPts val="705"/>
              </a:lnSpc>
            </a:pPr>
            <a:fld id="{81D60167-4931-47E6-BA6A-407CBD079E47}" type="slidenum">
              <a:rPr spc="-25" dirty="0"/>
              <a:t>‹N›</a:t>
            </a:fld>
            <a:endParaRPr spc="-25"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3/2/25</a:t>
            </a:fld>
            <a:endParaRPr lang="en-US"/>
          </a:p>
        </p:txBody>
      </p:sp>
      <p:sp>
        <p:nvSpPr>
          <p:cNvPr id="4" name="Holder 4"/>
          <p:cNvSpPr>
            <a:spLocks noGrp="1"/>
          </p:cNvSpPr>
          <p:nvPr>
            <p:ph type="sldNum" sz="quarter" idx="7"/>
          </p:nvPr>
        </p:nvSpPr>
        <p:spPr/>
        <p:txBody>
          <a:bodyPr lIns="0" tIns="0" rIns="0" bIns="0"/>
          <a:lstStyle>
            <a:lvl1pPr>
              <a:defRPr sz="600" b="0" i="0">
                <a:solidFill>
                  <a:srgbClr val="7F7F7F"/>
                </a:solidFill>
                <a:latin typeface="Arial"/>
                <a:cs typeface="Arial"/>
              </a:defRPr>
            </a:lvl1pPr>
          </a:lstStyle>
          <a:p>
            <a:pPr marL="38100">
              <a:lnSpc>
                <a:spcPts val="705"/>
              </a:lnSpc>
            </a:pPr>
            <a:fld id="{81D60167-4931-47E6-BA6A-407CBD079E47}" type="slidenum">
              <a:rPr spc="-25" dirty="0"/>
              <a:t>‹N›</a:t>
            </a:fld>
            <a:endParaRPr spc="-25"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26"/>
            <a:ext cx="5760085" cy="422909"/>
          </a:xfrm>
          <a:custGeom>
            <a:avLst/>
            <a:gdLst/>
            <a:ahLst/>
            <a:cxnLst/>
            <a:rect l="l" t="t" r="r" b="b"/>
            <a:pathLst>
              <a:path w="5760085" h="422909">
                <a:moveTo>
                  <a:pt x="5759996" y="0"/>
                </a:moveTo>
                <a:lnTo>
                  <a:pt x="0" y="0"/>
                </a:lnTo>
                <a:lnTo>
                  <a:pt x="0" y="422349"/>
                </a:lnTo>
                <a:lnTo>
                  <a:pt x="5759996" y="422349"/>
                </a:lnTo>
                <a:lnTo>
                  <a:pt x="5759996" y="0"/>
                </a:lnTo>
                <a:close/>
              </a:path>
            </a:pathLst>
          </a:custGeom>
          <a:solidFill>
            <a:srgbClr val="F4F4F4"/>
          </a:solidFill>
        </p:spPr>
        <p:txBody>
          <a:bodyPr wrap="square" lIns="0" tIns="0" rIns="0" bIns="0" rtlCol="0"/>
          <a:lstStyle/>
          <a:p>
            <a:endParaRPr/>
          </a:p>
        </p:txBody>
      </p:sp>
      <p:sp>
        <p:nvSpPr>
          <p:cNvPr id="2" name="Holder 2"/>
          <p:cNvSpPr>
            <a:spLocks noGrp="1"/>
          </p:cNvSpPr>
          <p:nvPr>
            <p:ph type="title"/>
          </p:nvPr>
        </p:nvSpPr>
        <p:spPr>
          <a:xfrm>
            <a:off x="131306" y="35542"/>
            <a:ext cx="4561840" cy="288290"/>
          </a:xfrm>
          <a:prstGeom prst="rect">
            <a:avLst/>
          </a:prstGeom>
        </p:spPr>
        <p:txBody>
          <a:bodyPr wrap="square" lIns="0" tIns="0" rIns="0" bIns="0">
            <a:spAutoFit/>
          </a:bodyPr>
          <a:lstStyle>
            <a:lvl1pPr>
              <a:defRPr sz="1700" b="1" i="0">
                <a:solidFill>
                  <a:srgbClr val="3F78D2"/>
                </a:solidFill>
                <a:latin typeface="Arial"/>
                <a:cs typeface="Arial"/>
              </a:defRPr>
            </a:lvl1pPr>
          </a:lstStyle>
          <a:p>
            <a:endParaRPr/>
          </a:p>
        </p:txBody>
      </p:sp>
      <p:sp>
        <p:nvSpPr>
          <p:cNvPr id="3" name="Holder 3"/>
          <p:cNvSpPr>
            <a:spLocks noGrp="1"/>
          </p:cNvSpPr>
          <p:nvPr>
            <p:ph type="body" idx="1"/>
          </p:nvPr>
        </p:nvSpPr>
        <p:spPr>
          <a:xfrm>
            <a:off x="210477" y="1008021"/>
            <a:ext cx="5439410" cy="1326514"/>
          </a:xfrm>
          <a:prstGeom prst="rect">
            <a:avLst/>
          </a:prstGeom>
        </p:spPr>
        <p:txBody>
          <a:bodyPr wrap="square" lIns="0" tIns="0" rIns="0" bIns="0">
            <a:spAutoFit/>
          </a:bodyPr>
          <a:lstStyle>
            <a:lvl1pPr>
              <a:defRPr sz="12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1960372" y="3017710"/>
            <a:ext cx="1845056" cy="1622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88290" y="3017710"/>
            <a:ext cx="1326134" cy="1622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3/2/25</a:t>
            </a:fld>
            <a:endParaRPr lang="en-US"/>
          </a:p>
        </p:txBody>
      </p:sp>
      <p:sp>
        <p:nvSpPr>
          <p:cNvPr id="6" name="Holder 6"/>
          <p:cNvSpPr>
            <a:spLocks noGrp="1"/>
          </p:cNvSpPr>
          <p:nvPr>
            <p:ph type="sldNum" sz="quarter" idx="7"/>
          </p:nvPr>
        </p:nvSpPr>
        <p:spPr>
          <a:xfrm>
            <a:off x="5557926" y="3114663"/>
            <a:ext cx="177164" cy="102240"/>
          </a:xfrm>
          <a:prstGeom prst="rect">
            <a:avLst/>
          </a:prstGeom>
        </p:spPr>
        <p:txBody>
          <a:bodyPr wrap="square" lIns="0" tIns="0" rIns="0" bIns="0">
            <a:spAutoFit/>
          </a:bodyPr>
          <a:lstStyle>
            <a:lvl1pPr>
              <a:defRPr sz="600" b="0" i="0">
                <a:solidFill>
                  <a:srgbClr val="7F7F7F"/>
                </a:solidFill>
                <a:latin typeface="Arial"/>
                <a:cs typeface="Arial"/>
              </a:defRPr>
            </a:lvl1pPr>
          </a:lstStyle>
          <a:p>
            <a:pPr marL="38100">
              <a:lnSpc>
                <a:spcPts val="705"/>
              </a:lnSpc>
            </a:pPr>
            <a:fld id="{81D60167-4931-47E6-BA6A-407CBD079E47}" type="slidenum">
              <a:rPr spc="-25" dirty="0"/>
              <a:t>‹N›</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colab.research.google.com/drive/15fw0uGR3Je-H4qBZu3_-v0kwq7M2cqqT?usp=sharing"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drive.google.com/drive/folders/1HWO1rb2illEX5YayI-2xyxCAH5OiQ7LH?usp=sharing"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5.svg"/><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23"/>
            <a:ext cx="5760085" cy="72390"/>
          </a:xfrm>
          <a:custGeom>
            <a:avLst/>
            <a:gdLst/>
            <a:ahLst/>
            <a:cxnLst/>
            <a:rect l="l" t="t" r="r" b="b"/>
            <a:pathLst>
              <a:path w="5760085" h="72390">
                <a:moveTo>
                  <a:pt x="5759996" y="0"/>
                </a:moveTo>
                <a:lnTo>
                  <a:pt x="0" y="0"/>
                </a:lnTo>
                <a:lnTo>
                  <a:pt x="0" y="71998"/>
                </a:lnTo>
                <a:lnTo>
                  <a:pt x="5759996" y="71998"/>
                </a:lnTo>
                <a:lnTo>
                  <a:pt x="5759996" y="0"/>
                </a:lnTo>
                <a:close/>
              </a:path>
            </a:pathLst>
          </a:custGeom>
          <a:solidFill>
            <a:srgbClr val="3F78D2"/>
          </a:solidFill>
        </p:spPr>
        <p:txBody>
          <a:bodyPr wrap="square" lIns="0" tIns="0" rIns="0" bIns="0" rtlCol="0"/>
          <a:lstStyle/>
          <a:p>
            <a:endParaRPr lang="en-US" noProof="0" dirty="0"/>
          </a:p>
        </p:txBody>
      </p:sp>
      <p:sp>
        <p:nvSpPr>
          <p:cNvPr id="3" name="object 3"/>
          <p:cNvSpPr/>
          <p:nvPr/>
        </p:nvSpPr>
        <p:spPr>
          <a:xfrm>
            <a:off x="0" y="484140"/>
            <a:ext cx="5760085" cy="1057275"/>
          </a:xfrm>
          <a:custGeom>
            <a:avLst/>
            <a:gdLst/>
            <a:ahLst/>
            <a:cxnLst/>
            <a:rect l="l" t="t" r="r" b="b"/>
            <a:pathLst>
              <a:path w="5760085" h="1057275">
                <a:moveTo>
                  <a:pt x="5759996" y="0"/>
                </a:moveTo>
                <a:lnTo>
                  <a:pt x="0" y="0"/>
                </a:lnTo>
                <a:lnTo>
                  <a:pt x="0" y="1057017"/>
                </a:lnTo>
                <a:lnTo>
                  <a:pt x="5759996" y="1057017"/>
                </a:lnTo>
                <a:lnTo>
                  <a:pt x="5759996" y="0"/>
                </a:lnTo>
                <a:close/>
              </a:path>
            </a:pathLst>
          </a:custGeom>
          <a:solidFill>
            <a:srgbClr val="3F78D2"/>
          </a:solidFill>
        </p:spPr>
        <p:txBody>
          <a:bodyPr wrap="square" lIns="0" tIns="0" rIns="0" bIns="0" rtlCol="0"/>
          <a:lstStyle/>
          <a:p>
            <a:endParaRPr lang="en-US" noProof="0" dirty="0"/>
          </a:p>
        </p:txBody>
      </p:sp>
      <p:sp>
        <p:nvSpPr>
          <p:cNvPr id="4" name="object 4"/>
          <p:cNvSpPr txBox="1">
            <a:spLocks noGrp="1"/>
          </p:cNvSpPr>
          <p:nvPr>
            <p:ph type="title"/>
          </p:nvPr>
        </p:nvSpPr>
        <p:spPr>
          <a:xfrm>
            <a:off x="2308301" y="568296"/>
            <a:ext cx="1143635" cy="207645"/>
          </a:xfrm>
          <a:prstGeom prst="rect">
            <a:avLst/>
          </a:prstGeom>
        </p:spPr>
        <p:txBody>
          <a:bodyPr vert="horz" wrap="square" lIns="0" tIns="12065" rIns="0" bIns="0" rtlCol="0">
            <a:spAutoFit/>
          </a:bodyPr>
          <a:lstStyle/>
          <a:p>
            <a:pPr marL="12700">
              <a:lnSpc>
                <a:spcPct val="100000"/>
              </a:lnSpc>
              <a:spcBef>
                <a:spcPts val="95"/>
              </a:spcBef>
            </a:pPr>
            <a:r>
              <a:rPr lang="en-US" sz="1200" b="0" i="1" noProof="0" dirty="0">
                <a:solidFill>
                  <a:srgbClr val="FFFFFF"/>
                </a:solidFill>
                <a:latin typeface="Calibri"/>
                <a:cs typeface="Calibri"/>
              </a:rPr>
              <a:t>Machine</a:t>
            </a:r>
            <a:r>
              <a:rPr lang="en-US" sz="1200" b="0" i="1" spc="45" noProof="0" dirty="0">
                <a:solidFill>
                  <a:srgbClr val="FFFFFF"/>
                </a:solidFill>
                <a:latin typeface="Calibri"/>
                <a:cs typeface="Calibri"/>
              </a:rPr>
              <a:t> </a:t>
            </a:r>
            <a:r>
              <a:rPr lang="en-US" sz="1200" b="0" i="1" spc="-10" noProof="0" dirty="0">
                <a:solidFill>
                  <a:srgbClr val="FFFFFF"/>
                </a:solidFill>
                <a:latin typeface="Calibri"/>
                <a:cs typeface="Calibri"/>
              </a:rPr>
              <a:t>Learning</a:t>
            </a:r>
            <a:endParaRPr lang="en-US" sz="1200" noProof="0" dirty="0">
              <a:latin typeface="Calibri"/>
              <a:cs typeface="Calibri"/>
            </a:endParaRPr>
          </a:p>
        </p:txBody>
      </p:sp>
      <p:sp>
        <p:nvSpPr>
          <p:cNvPr id="5" name="object 5"/>
          <p:cNvSpPr txBox="1"/>
          <p:nvPr/>
        </p:nvSpPr>
        <p:spPr>
          <a:xfrm>
            <a:off x="381393" y="801241"/>
            <a:ext cx="5043805" cy="568325"/>
          </a:xfrm>
          <a:prstGeom prst="rect">
            <a:avLst/>
          </a:prstGeom>
        </p:spPr>
        <p:txBody>
          <a:bodyPr vert="horz" wrap="square" lIns="0" tIns="15240" rIns="0" bIns="0" rtlCol="0">
            <a:spAutoFit/>
          </a:bodyPr>
          <a:lstStyle/>
          <a:p>
            <a:pPr algn="ctr">
              <a:lnSpc>
                <a:spcPct val="100000"/>
              </a:lnSpc>
              <a:spcBef>
                <a:spcPts val="120"/>
              </a:spcBef>
            </a:pPr>
            <a:r>
              <a:rPr lang="en-US" sz="1700" b="1" spc="-30" noProof="0" dirty="0">
                <a:solidFill>
                  <a:srgbClr val="FFFFFF"/>
                </a:solidFill>
                <a:latin typeface="Arial"/>
                <a:cs typeface="Arial"/>
              </a:rPr>
              <a:t>Project of Sentiment Analysis </a:t>
            </a:r>
            <a:endParaRPr lang="en-US" sz="1700" noProof="0" dirty="0">
              <a:latin typeface="Arial"/>
              <a:cs typeface="Arial"/>
            </a:endParaRPr>
          </a:p>
          <a:p>
            <a:pPr marR="37465" algn="ctr">
              <a:lnSpc>
                <a:spcPct val="100000"/>
              </a:lnSpc>
              <a:spcBef>
                <a:spcPts val="894"/>
              </a:spcBef>
              <a:tabLst>
                <a:tab pos="1480820" algn="l"/>
              </a:tabLst>
            </a:pPr>
            <a:r>
              <a:rPr lang="en-US" sz="1100" spc="-20" noProof="0" dirty="0">
                <a:solidFill>
                  <a:srgbClr val="FFFFFF"/>
                </a:solidFill>
                <a:latin typeface="Arial"/>
                <a:cs typeface="Arial"/>
              </a:rPr>
              <a:t>Francesco Astolfi </a:t>
            </a:r>
            <a:endParaRPr lang="en-US" sz="1100" noProof="0" dirty="0">
              <a:latin typeface="Arial"/>
              <a:cs typeface="Arial"/>
            </a:endParaRPr>
          </a:p>
        </p:txBody>
      </p:sp>
      <p:sp>
        <p:nvSpPr>
          <p:cNvPr id="6" name="object 6"/>
          <p:cNvSpPr txBox="1"/>
          <p:nvPr/>
        </p:nvSpPr>
        <p:spPr>
          <a:xfrm>
            <a:off x="1252780" y="1816460"/>
            <a:ext cx="3287395" cy="177800"/>
          </a:xfrm>
          <a:prstGeom prst="rect">
            <a:avLst/>
          </a:prstGeom>
        </p:spPr>
        <p:txBody>
          <a:bodyPr vert="horz" wrap="square" lIns="0" tIns="12065" rIns="0" bIns="0" rtlCol="0">
            <a:spAutoFit/>
          </a:bodyPr>
          <a:lstStyle/>
          <a:p>
            <a:pPr marL="12700">
              <a:lnSpc>
                <a:spcPct val="100000"/>
              </a:lnSpc>
              <a:spcBef>
                <a:spcPts val="95"/>
              </a:spcBef>
            </a:pPr>
            <a:r>
              <a:rPr lang="en-US" sz="1000" spc="-30" noProof="0" dirty="0" err="1">
                <a:solidFill>
                  <a:srgbClr val="3F3F3F"/>
                </a:solidFill>
                <a:latin typeface="Arial"/>
                <a:cs typeface="Arial"/>
              </a:rPr>
              <a:t>Laurea</a:t>
            </a:r>
            <a:r>
              <a:rPr lang="en-US" sz="1000" spc="-5" noProof="0" dirty="0">
                <a:solidFill>
                  <a:srgbClr val="3F3F3F"/>
                </a:solidFill>
                <a:latin typeface="Arial"/>
                <a:cs typeface="Arial"/>
              </a:rPr>
              <a:t> </a:t>
            </a:r>
            <a:r>
              <a:rPr lang="en-US" sz="1000" spc="-10" noProof="0" dirty="0" err="1">
                <a:solidFill>
                  <a:srgbClr val="3F3F3F"/>
                </a:solidFill>
                <a:latin typeface="Arial"/>
                <a:cs typeface="Arial"/>
              </a:rPr>
              <a:t>Magistrale</a:t>
            </a:r>
            <a:r>
              <a:rPr lang="en-US" sz="1000" spc="-5" noProof="0" dirty="0">
                <a:solidFill>
                  <a:srgbClr val="3F3F3F"/>
                </a:solidFill>
                <a:latin typeface="Arial"/>
                <a:cs typeface="Arial"/>
              </a:rPr>
              <a:t> </a:t>
            </a:r>
            <a:r>
              <a:rPr lang="en-US" sz="1000" noProof="0" dirty="0">
                <a:solidFill>
                  <a:srgbClr val="3F3F3F"/>
                </a:solidFill>
                <a:latin typeface="Arial"/>
                <a:cs typeface="Arial"/>
              </a:rPr>
              <a:t>in</a:t>
            </a:r>
            <a:r>
              <a:rPr lang="en-US" sz="1000" spc="-5" noProof="0" dirty="0">
                <a:solidFill>
                  <a:srgbClr val="3F3F3F"/>
                </a:solidFill>
                <a:latin typeface="Arial"/>
                <a:cs typeface="Arial"/>
              </a:rPr>
              <a:t> </a:t>
            </a:r>
            <a:r>
              <a:rPr lang="en-US" sz="1000" spc="-20" noProof="0" dirty="0" err="1">
                <a:solidFill>
                  <a:srgbClr val="3F3F3F"/>
                </a:solidFill>
                <a:latin typeface="Arial"/>
                <a:cs typeface="Arial"/>
              </a:rPr>
              <a:t>Ingegneria</a:t>
            </a:r>
            <a:r>
              <a:rPr lang="en-US" sz="1000" spc="-5" noProof="0" dirty="0">
                <a:solidFill>
                  <a:srgbClr val="3F3F3F"/>
                </a:solidFill>
                <a:latin typeface="Arial"/>
                <a:cs typeface="Arial"/>
              </a:rPr>
              <a:t> </a:t>
            </a:r>
            <a:r>
              <a:rPr lang="en-US" sz="1000" noProof="0" dirty="0">
                <a:solidFill>
                  <a:srgbClr val="3F3F3F"/>
                </a:solidFill>
                <a:latin typeface="Arial"/>
                <a:cs typeface="Arial"/>
              </a:rPr>
              <a:t>Informatica</a:t>
            </a:r>
            <a:r>
              <a:rPr lang="en-US" sz="1000" spc="-5" noProof="0" dirty="0">
                <a:solidFill>
                  <a:srgbClr val="3F3F3F"/>
                </a:solidFill>
                <a:latin typeface="Arial"/>
                <a:cs typeface="Arial"/>
              </a:rPr>
              <a:t> </a:t>
            </a:r>
            <a:r>
              <a:rPr lang="en-US" sz="1000" noProof="0" dirty="0">
                <a:solidFill>
                  <a:srgbClr val="3F3F3F"/>
                </a:solidFill>
                <a:latin typeface="Arial"/>
                <a:cs typeface="Arial"/>
              </a:rPr>
              <a:t>–</a:t>
            </a:r>
            <a:r>
              <a:rPr lang="en-US" sz="1000" spc="-5" noProof="0" dirty="0">
                <a:solidFill>
                  <a:srgbClr val="3F3F3F"/>
                </a:solidFill>
                <a:latin typeface="Arial"/>
                <a:cs typeface="Arial"/>
              </a:rPr>
              <a:t> </a:t>
            </a:r>
            <a:r>
              <a:rPr lang="en-US" sz="1000" spc="-80" noProof="0" dirty="0">
                <a:solidFill>
                  <a:srgbClr val="3F3F3F"/>
                </a:solidFill>
                <a:latin typeface="Arial"/>
                <a:cs typeface="Arial"/>
              </a:rPr>
              <a:t>A.Y.</a:t>
            </a:r>
            <a:r>
              <a:rPr lang="en-US" sz="1000" noProof="0" dirty="0">
                <a:solidFill>
                  <a:srgbClr val="3F3F3F"/>
                </a:solidFill>
                <a:latin typeface="Arial"/>
                <a:cs typeface="Arial"/>
              </a:rPr>
              <a:t> </a:t>
            </a:r>
            <a:r>
              <a:rPr lang="en-US" sz="1000" spc="-10" noProof="0" dirty="0">
                <a:solidFill>
                  <a:srgbClr val="3F3F3F"/>
                </a:solidFill>
                <a:latin typeface="Arial"/>
                <a:cs typeface="Arial"/>
              </a:rPr>
              <a:t>2024/25</a:t>
            </a:r>
            <a:endParaRPr lang="en-US" sz="1000" noProof="0" dirty="0">
              <a:latin typeface="Arial"/>
              <a:cs typeface="Arial"/>
            </a:endParaRPr>
          </a:p>
        </p:txBody>
      </p:sp>
      <p:grpSp>
        <p:nvGrpSpPr>
          <p:cNvPr id="7" name="object 7"/>
          <p:cNvGrpSpPr/>
          <p:nvPr/>
        </p:nvGrpSpPr>
        <p:grpSpPr>
          <a:xfrm>
            <a:off x="171946" y="2561739"/>
            <a:ext cx="316230" cy="432434"/>
            <a:chOff x="171946" y="2561739"/>
            <a:chExt cx="316230" cy="432434"/>
          </a:xfrm>
        </p:grpSpPr>
        <p:sp>
          <p:nvSpPr>
            <p:cNvPr id="8" name="object 8"/>
            <p:cNvSpPr/>
            <p:nvPr/>
          </p:nvSpPr>
          <p:spPr>
            <a:xfrm>
              <a:off x="171946" y="2561739"/>
              <a:ext cx="316230" cy="432434"/>
            </a:xfrm>
            <a:custGeom>
              <a:avLst/>
              <a:gdLst/>
              <a:ahLst/>
              <a:cxnLst/>
              <a:rect l="l" t="t" r="r" b="b"/>
              <a:pathLst>
                <a:path w="316230" h="432435">
                  <a:moveTo>
                    <a:pt x="315782" y="0"/>
                  </a:moveTo>
                  <a:lnTo>
                    <a:pt x="215016" y="0"/>
                  </a:lnTo>
                  <a:lnTo>
                    <a:pt x="215016" y="199364"/>
                  </a:lnTo>
                  <a:lnTo>
                    <a:pt x="207427" y="246272"/>
                  </a:lnTo>
                  <a:lnTo>
                    <a:pt x="186305" y="287049"/>
                  </a:lnTo>
                  <a:lnTo>
                    <a:pt x="154116" y="319228"/>
                  </a:lnTo>
                  <a:lnTo>
                    <a:pt x="113326" y="340343"/>
                  </a:lnTo>
                  <a:lnTo>
                    <a:pt x="66401" y="347930"/>
                  </a:lnTo>
                  <a:lnTo>
                    <a:pt x="50336" y="347073"/>
                  </a:lnTo>
                  <a:lnTo>
                    <a:pt x="34605" y="344509"/>
                  </a:lnTo>
                  <a:lnTo>
                    <a:pt x="19264" y="340251"/>
                  </a:lnTo>
                  <a:lnTo>
                    <a:pt x="4364" y="334312"/>
                  </a:lnTo>
                  <a:lnTo>
                    <a:pt x="2564" y="333458"/>
                  </a:lnTo>
                  <a:lnTo>
                    <a:pt x="708" y="332685"/>
                  </a:lnTo>
                  <a:lnTo>
                    <a:pt x="0" y="332303"/>
                  </a:lnTo>
                  <a:lnTo>
                    <a:pt x="0" y="431958"/>
                  </a:lnTo>
                  <a:lnTo>
                    <a:pt x="315782" y="431958"/>
                  </a:lnTo>
                  <a:lnTo>
                    <a:pt x="315782" y="0"/>
                  </a:lnTo>
                  <a:close/>
                </a:path>
              </a:pathLst>
            </a:custGeom>
            <a:solidFill>
              <a:srgbClr val="00833E"/>
            </a:solidFill>
          </p:spPr>
          <p:txBody>
            <a:bodyPr wrap="square" lIns="0" tIns="0" rIns="0" bIns="0" rtlCol="0"/>
            <a:lstStyle/>
            <a:p>
              <a:endParaRPr lang="en-US" noProof="0" dirty="0"/>
            </a:p>
          </p:txBody>
        </p:sp>
        <p:pic>
          <p:nvPicPr>
            <p:cNvPr id="9" name="object 9"/>
            <p:cNvPicPr/>
            <p:nvPr/>
          </p:nvPicPr>
          <p:blipFill>
            <a:blip r:embed="rId2" cstate="print"/>
            <a:stretch>
              <a:fillRect/>
            </a:stretch>
          </p:blipFill>
          <p:spPr>
            <a:xfrm>
              <a:off x="171955" y="2590686"/>
              <a:ext cx="134416" cy="220077"/>
            </a:xfrm>
            <a:prstGeom prst="rect">
              <a:avLst/>
            </a:prstGeom>
          </p:spPr>
        </p:pic>
        <p:sp>
          <p:nvSpPr>
            <p:cNvPr id="10" name="object 10"/>
            <p:cNvSpPr/>
            <p:nvPr/>
          </p:nvSpPr>
          <p:spPr>
            <a:xfrm>
              <a:off x="173017" y="2567137"/>
              <a:ext cx="132715" cy="0"/>
            </a:xfrm>
            <a:custGeom>
              <a:avLst/>
              <a:gdLst/>
              <a:ahLst/>
              <a:cxnLst/>
              <a:rect l="l" t="t" r="r" b="b"/>
              <a:pathLst>
                <a:path w="132715">
                  <a:moveTo>
                    <a:pt x="0" y="0"/>
                  </a:moveTo>
                  <a:lnTo>
                    <a:pt x="132253" y="0"/>
                  </a:lnTo>
                </a:path>
              </a:pathLst>
            </a:custGeom>
            <a:ln w="10795">
              <a:solidFill>
                <a:srgbClr val="00833E"/>
              </a:solidFill>
              <a:prstDash val="sysDot"/>
            </a:ln>
          </p:spPr>
          <p:txBody>
            <a:bodyPr wrap="square" lIns="0" tIns="0" rIns="0" bIns="0" rtlCol="0"/>
            <a:lstStyle/>
            <a:p>
              <a:endParaRPr lang="en-US" noProof="0" dirty="0"/>
            </a:p>
          </p:txBody>
        </p:sp>
      </p:grpSp>
      <p:pic>
        <p:nvPicPr>
          <p:cNvPr id="11" name="object 11"/>
          <p:cNvPicPr/>
          <p:nvPr/>
        </p:nvPicPr>
        <p:blipFill>
          <a:blip r:embed="rId3" cstate="print"/>
          <a:stretch>
            <a:fillRect/>
          </a:stretch>
        </p:blipFill>
        <p:spPr>
          <a:xfrm>
            <a:off x="571747" y="2663969"/>
            <a:ext cx="1413922" cy="227503"/>
          </a:xfrm>
          <a:prstGeom prst="rect">
            <a:avLst/>
          </a:prstGeom>
        </p:spPr>
      </p:pic>
      <p:sp>
        <p:nvSpPr>
          <p:cNvPr id="12" name="object 12"/>
          <p:cNvSpPr txBox="1"/>
          <p:nvPr/>
        </p:nvSpPr>
        <p:spPr>
          <a:xfrm>
            <a:off x="2953270" y="2620446"/>
            <a:ext cx="2559685" cy="304165"/>
          </a:xfrm>
          <a:prstGeom prst="rect">
            <a:avLst/>
          </a:prstGeom>
        </p:spPr>
        <p:txBody>
          <a:bodyPr vert="horz" wrap="square" lIns="0" tIns="37465" rIns="0" bIns="0" rtlCol="0">
            <a:spAutoFit/>
          </a:bodyPr>
          <a:lstStyle/>
          <a:p>
            <a:pPr marL="12700" marR="5080">
              <a:lnSpc>
                <a:spcPts val="1000"/>
              </a:lnSpc>
              <a:spcBef>
                <a:spcPts val="295"/>
              </a:spcBef>
            </a:pPr>
            <a:r>
              <a:rPr lang="en-US" sz="1000" noProof="0" dirty="0" err="1">
                <a:solidFill>
                  <a:srgbClr val="3F3F3F"/>
                </a:solidFill>
                <a:latin typeface="Arial"/>
                <a:cs typeface="Arial"/>
              </a:rPr>
              <a:t>Dipartimento</a:t>
            </a:r>
            <a:r>
              <a:rPr lang="en-US" sz="1000" spc="10" noProof="0" dirty="0">
                <a:solidFill>
                  <a:srgbClr val="3F3F3F"/>
                </a:solidFill>
                <a:latin typeface="Arial"/>
                <a:cs typeface="Arial"/>
              </a:rPr>
              <a:t> </a:t>
            </a:r>
            <a:r>
              <a:rPr lang="en-US" sz="1000" noProof="0" dirty="0">
                <a:solidFill>
                  <a:srgbClr val="3F3F3F"/>
                </a:solidFill>
                <a:latin typeface="Arial"/>
                <a:cs typeface="Arial"/>
              </a:rPr>
              <a:t>di</a:t>
            </a:r>
            <a:r>
              <a:rPr lang="en-US" sz="1000" spc="10" noProof="0" dirty="0">
                <a:solidFill>
                  <a:srgbClr val="3F3F3F"/>
                </a:solidFill>
                <a:latin typeface="Arial"/>
                <a:cs typeface="Arial"/>
              </a:rPr>
              <a:t> </a:t>
            </a:r>
            <a:r>
              <a:rPr lang="en-US" sz="1000" spc="-20" noProof="0" dirty="0" err="1">
                <a:solidFill>
                  <a:srgbClr val="3F3F3F"/>
                </a:solidFill>
                <a:latin typeface="Arial"/>
                <a:cs typeface="Arial"/>
              </a:rPr>
              <a:t>Ingegneria</a:t>
            </a:r>
            <a:r>
              <a:rPr lang="en-US" sz="1000" spc="15" noProof="0" dirty="0">
                <a:solidFill>
                  <a:srgbClr val="3F3F3F"/>
                </a:solidFill>
                <a:latin typeface="Arial"/>
                <a:cs typeface="Arial"/>
              </a:rPr>
              <a:t> </a:t>
            </a:r>
            <a:r>
              <a:rPr lang="en-US" sz="1000" spc="-10" noProof="0" dirty="0">
                <a:solidFill>
                  <a:srgbClr val="3F3F3F"/>
                </a:solidFill>
                <a:latin typeface="Arial"/>
                <a:cs typeface="Arial"/>
              </a:rPr>
              <a:t>Civile</a:t>
            </a:r>
            <a:r>
              <a:rPr lang="en-US" sz="1000" spc="10" noProof="0" dirty="0">
                <a:solidFill>
                  <a:srgbClr val="3F3F3F"/>
                </a:solidFill>
                <a:latin typeface="Arial"/>
                <a:cs typeface="Arial"/>
              </a:rPr>
              <a:t> </a:t>
            </a:r>
            <a:r>
              <a:rPr lang="en-US" sz="1000" noProof="0" dirty="0">
                <a:solidFill>
                  <a:srgbClr val="3F3F3F"/>
                </a:solidFill>
                <a:latin typeface="Arial"/>
                <a:cs typeface="Arial"/>
              </a:rPr>
              <a:t>e</a:t>
            </a:r>
            <a:r>
              <a:rPr lang="en-US" sz="1000" spc="15" noProof="0" dirty="0">
                <a:solidFill>
                  <a:srgbClr val="3F3F3F"/>
                </a:solidFill>
                <a:latin typeface="Arial"/>
                <a:cs typeface="Arial"/>
              </a:rPr>
              <a:t> </a:t>
            </a:r>
            <a:r>
              <a:rPr lang="en-US" sz="1000" spc="-10" noProof="0" dirty="0" err="1">
                <a:solidFill>
                  <a:srgbClr val="3F3F3F"/>
                </a:solidFill>
                <a:latin typeface="Arial"/>
                <a:cs typeface="Arial"/>
              </a:rPr>
              <a:t>Ingegneria</a:t>
            </a:r>
            <a:r>
              <a:rPr lang="en-US" sz="1000" spc="-10" noProof="0" dirty="0">
                <a:solidFill>
                  <a:srgbClr val="3F3F3F"/>
                </a:solidFill>
                <a:latin typeface="Arial"/>
                <a:cs typeface="Arial"/>
              </a:rPr>
              <a:t> Informatica</a:t>
            </a:r>
            <a:endParaRPr lang="en-US" sz="1000" noProof="0" dirty="0">
              <a:latin typeface="Arial"/>
              <a:cs typeface="Aria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705"/>
              </a:lnSpc>
            </a:pPr>
            <a:fld id="{81D60167-4931-47E6-BA6A-407CBD079E47}" type="slidenum">
              <a:rPr lang="en-US" spc="-25" noProof="0" smtClean="0"/>
              <a:t>2</a:t>
            </a:fld>
            <a:endParaRPr lang="en-US" spc="-25" noProof="0" dirty="0"/>
          </a:p>
        </p:txBody>
      </p:sp>
      <p:pic>
        <p:nvPicPr>
          <p:cNvPr id="6" name="Immagine 5" descr="Immagine che contiene testo, Carattere, schermata, documento&#10;&#10;Il contenuto generato dall'IA potrebbe non essere corretto.">
            <a:extLst>
              <a:ext uri="{FF2B5EF4-FFF2-40B4-BE49-F238E27FC236}">
                <a16:creationId xmlns:a16="http://schemas.microsoft.com/office/drawing/2014/main" id="{2E595E91-6FB1-984D-14E4-EF539D3C2D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306" y="496747"/>
            <a:ext cx="5136717" cy="1430478"/>
          </a:xfrm>
          <a:prstGeom prst="rect">
            <a:avLst/>
          </a:prstGeom>
        </p:spPr>
      </p:pic>
      <p:sp>
        <p:nvSpPr>
          <p:cNvPr id="7" name="object 2">
            <a:extLst>
              <a:ext uri="{FF2B5EF4-FFF2-40B4-BE49-F238E27FC236}">
                <a16:creationId xmlns:a16="http://schemas.microsoft.com/office/drawing/2014/main" id="{73BA6A78-AB5F-660F-15EB-5ABFDFEDF06D}"/>
              </a:ext>
            </a:extLst>
          </p:cNvPr>
          <p:cNvSpPr txBox="1">
            <a:spLocks/>
          </p:cNvSpPr>
          <p:nvPr/>
        </p:nvSpPr>
        <p:spPr>
          <a:xfrm>
            <a:off x="258264" y="77678"/>
            <a:ext cx="4561840" cy="276999"/>
          </a:xfrm>
          <a:prstGeom prst="rect">
            <a:avLst/>
          </a:prstGeom>
        </p:spPr>
        <p:txBody>
          <a:bodyPr vert="horz" wrap="square" lIns="0" tIns="15240" rIns="0" bIns="0" rtlCol="0">
            <a:spAutoFit/>
          </a:bodyPr>
          <a:lstStyle>
            <a:lvl1pPr>
              <a:defRPr sz="1700" b="1" i="0">
                <a:solidFill>
                  <a:srgbClr val="3F78D2"/>
                </a:solidFill>
                <a:latin typeface="Arial"/>
                <a:ea typeface="+mj-ea"/>
                <a:cs typeface="Arial"/>
              </a:defRPr>
            </a:lvl1pPr>
          </a:lstStyle>
          <a:p>
            <a:pPr marL="12700">
              <a:spcBef>
                <a:spcPts val="120"/>
              </a:spcBef>
            </a:pPr>
            <a:r>
              <a:rPr lang="en-US" spc="-90" noProof="0" dirty="0"/>
              <a:t>The task </a:t>
            </a:r>
            <a:endParaRPr lang="en-US" spc="-20" noProof="0" dirty="0"/>
          </a:p>
        </p:txBody>
      </p:sp>
      <p:sp>
        <p:nvSpPr>
          <p:cNvPr id="25" name="CasellaDiTesto 24">
            <a:extLst>
              <a:ext uri="{FF2B5EF4-FFF2-40B4-BE49-F238E27FC236}">
                <a16:creationId xmlns:a16="http://schemas.microsoft.com/office/drawing/2014/main" id="{F7561992-D2CF-B46E-BB38-DB729F043D8C}"/>
              </a:ext>
            </a:extLst>
          </p:cNvPr>
          <p:cNvSpPr txBox="1"/>
          <p:nvPr/>
        </p:nvSpPr>
        <p:spPr>
          <a:xfrm>
            <a:off x="825500" y="1927225"/>
            <a:ext cx="1531188" cy="369332"/>
          </a:xfrm>
          <a:prstGeom prst="rect">
            <a:avLst/>
          </a:prstGeom>
          <a:noFill/>
        </p:spPr>
        <p:txBody>
          <a:bodyPr wrap="none" rtlCol="0">
            <a:spAutoFit/>
          </a:bodyPr>
          <a:lstStyle/>
          <a:p>
            <a:r>
              <a:rPr lang="en-US" noProof="0" dirty="0"/>
              <a:t>The project : </a:t>
            </a:r>
          </a:p>
        </p:txBody>
      </p:sp>
      <p:sp>
        <p:nvSpPr>
          <p:cNvPr id="27" name="CasellaDiTesto 26">
            <a:extLst>
              <a:ext uri="{FF2B5EF4-FFF2-40B4-BE49-F238E27FC236}">
                <a16:creationId xmlns:a16="http://schemas.microsoft.com/office/drawing/2014/main" id="{3961748D-606A-0C8F-5ADE-AB8D3FA53865}"/>
              </a:ext>
            </a:extLst>
          </p:cNvPr>
          <p:cNvSpPr txBox="1"/>
          <p:nvPr/>
        </p:nvSpPr>
        <p:spPr>
          <a:xfrm>
            <a:off x="2273300" y="1927225"/>
            <a:ext cx="2884250" cy="369332"/>
          </a:xfrm>
          <a:prstGeom prst="rect">
            <a:avLst/>
          </a:prstGeom>
          <a:noFill/>
        </p:spPr>
        <p:txBody>
          <a:bodyPr wrap="square">
            <a:spAutoFit/>
          </a:bodyPr>
          <a:lstStyle/>
          <a:p>
            <a:r>
              <a:rPr lang="en-US" noProof="0" dirty="0">
                <a:solidFill>
                  <a:srgbClr val="3F78D3"/>
                </a:solidFill>
                <a:hlinkClick r:id="rId3">
                  <a:extLst>
                    <a:ext uri="{A12FA001-AC4F-418D-AE19-62706E023703}">
                      <ahyp:hlinkClr xmlns:ahyp="http://schemas.microsoft.com/office/drawing/2018/hyperlinkcolor" val="tx"/>
                    </a:ext>
                  </a:extLst>
                </a:hlinkClick>
              </a:rPr>
              <a:t>link to the project</a:t>
            </a:r>
            <a:endParaRPr lang="en-US" noProof="0" dirty="0">
              <a:solidFill>
                <a:srgbClr val="3F78D3"/>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0B127C6-40B8-FF3B-A32E-1934E68EC3EF}"/>
              </a:ext>
            </a:extLst>
          </p:cNvPr>
          <p:cNvSpPr>
            <a:spLocks noGrp="1"/>
          </p:cNvSpPr>
          <p:nvPr>
            <p:ph type="title"/>
          </p:nvPr>
        </p:nvSpPr>
        <p:spPr>
          <a:xfrm>
            <a:off x="131306" y="35542"/>
            <a:ext cx="4561840" cy="261610"/>
          </a:xfrm>
        </p:spPr>
        <p:txBody>
          <a:bodyPr/>
          <a:lstStyle/>
          <a:p>
            <a:r>
              <a:rPr lang="en-US" dirty="0"/>
              <a:t>Dependencies</a:t>
            </a:r>
          </a:p>
        </p:txBody>
      </p:sp>
      <p:sp>
        <p:nvSpPr>
          <p:cNvPr id="3" name="Segnaposto testo 2">
            <a:extLst>
              <a:ext uri="{FF2B5EF4-FFF2-40B4-BE49-F238E27FC236}">
                <a16:creationId xmlns:a16="http://schemas.microsoft.com/office/drawing/2014/main" id="{A5470D37-A03C-DA45-AD09-9267F4A8FA25}"/>
              </a:ext>
            </a:extLst>
          </p:cNvPr>
          <p:cNvSpPr>
            <a:spLocks noGrp="1"/>
          </p:cNvSpPr>
          <p:nvPr>
            <p:ph type="body" idx="1"/>
          </p:nvPr>
        </p:nvSpPr>
        <p:spPr>
          <a:xfrm>
            <a:off x="215900" y="631825"/>
            <a:ext cx="2977223" cy="1477328"/>
          </a:xfrm>
        </p:spPr>
        <p:txBody>
          <a:bodyPr/>
          <a:lstStyle/>
          <a:p>
            <a:r>
              <a:rPr lang="en-US" dirty="0"/>
              <a:t>The following directory need to be loaded on the drive account that want to start the project </a:t>
            </a:r>
            <a:r>
              <a:rPr lang="en-US" dirty="0">
                <a:solidFill>
                  <a:srgbClr val="3F78D3"/>
                </a:solidFill>
                <a:hlinkClick r:id="rId2">
                  <a:extLst>
                    <a:ext uri="{A12FA001-AC4F-418D-AE19-62706E023703}">
                      <ahyp:hlinkClr xmlns:ahyp="http://schemas.microsoft.com/office/drawing/2018/hyperlinkcolor" val="tx"/>
                    </a:ext>
                  </a:extLst>
                </a:hlinkClick>
              </a:rPr>
              <a:t>drive-directory</a:t>
            </a:r>
            <a:r>
              <a:rPr lang="en-US" dirty="0">
                <a:solidFill>
                  <a:srgbClr val="3F78D3"/>
                </a:solidFill>
              </a:rPr>
              <a:t> .</a:t>
            </a:r>
          </a:p>
          <a:p>
            <a:r>
              <a:rPr lang="en-US" dirty="0"/>
              <a:t>This directory is essential because it contains the fine-tuned model and the dataset required for the project. Ensure that the drive is properly configured to access these resources.</a:t>
            </a:r>
          </a:p>
        </p:txBody>
      </p:sp>
      <p:pic>
        <p:nvPicPr>
          <p:cNvPr id="5" name="Immagine 4" descr="Immagine che contiene testo, schermata, Carattere, numero&#10;&#10;Il contenuto generato dall'IA potrebbe non essere corretto.">
            <a:extLst>
              <a:ext uri="{FF2B5EF4-FFF2-40B4-BE49-F238E27FC236}">
                <a16:creationId xmlns:a16="http://schemas.microsoft.com/office/drawing/2014/main" id="{CDCC58B1-3B7D-0C9D-DD7C-F5A7B09062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0100" y="1317625"/>
            <a:ext cx="2307741" cy="1352550"/>
          </a:xfrm>
          <a:prstGeom prst="rect">
            <a:avLst/>
          </a:prstGeom>
        </p:spPr>
      </p:pic>
    </p:spTree>
    <p:extLst>
      <p:ext uri="{BB962C8B-B14F-4D97-AF65-F5344CB8AC3E}">
        <p14:creationId xmlns:p14="http://schemas.microsoft.com/office/powerpoint/2010/main" val="24454955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magine 15" descr="Immagine che contiene testo, cartone animato&#10;&#10;Il contenuto generato dall'IA potrebbe non essere corretto.">
            <a:extLst>
              <a:ext uri="{FF2B5EF4-FFF2-40B4-BE49-F238E27FC236}">
                <a16:creationId xmlns:a16="http://schemas.microsoft.com/office/drawing/2014/main" id="{F8225135-E009-34C5-E171-081138182B53}"/>
              </a:ext>
            </a:extLst>
          </p:cNvPr>
          <p:cNvPicPr>
            <a:picLocks noChangeAspect="1"/>
          </p:cNvPicPr>
          <p:nvPr/>
        </p:nvPicPr>
        <p:blipFill>
          <a:blip r:embed="rId3">
            <a:extLst>
              <a:ext uri="{28A0092B-C50C-407E-A947-70E740481C1C}">
                <a14:useLocalDpi xmlns:a14="http://schemas.microsoft.com/office/drawing/2010/main" val="0"/>
              </a:ext>
            </a:extLst>
          </a:blip>
          <a:srcRect l="73788"/>
          <a:stretch/>
        </p:blipFill>
        <p:spPr>
          <a:xfrm rot="369204">
            <a:off x="5052023" y="1777198"/>
            <a:ext cx="637611" cy="1368318"/>
          </a:xfrm>
          <a:prstGeom prst="rect">
            <a:avLst/>
          </a:prstGeom>
        </p:spPr>
      </p:pic>
      <p:sp>
        <p:nvSpPr>
          <p:cNvPr id="2" name="object 2"/>
          <p:cNvSpPr txBox="1">
            <a:spLocks noGrp="1"/>
          </p:cNvSpPr>
          <p:nvPr>
            <p:ph type="title"/>
          </p:nvPr>
        </p:nvSpPr>
        <p:spPr>
          <a:xfrm>
            <a:off x="131306" y="35542"/>
            <a:ext cx="4561840" cy="276999"/>
          </a:xfrm>
          <a:prstGeom prst="rect">
            <a:avLst/>
          </a:prstGeom>
        </p:spPr>
        <p:txBody>
          <a:bodyPr vert="horz" wrap="square" lIns="0" tIns="15240" rIns="0" bIns="0" rtlCol="0">
            <a:spAutoFit/>
          </a:bodyPr>
          <a:lstStyle/>
          <a:p>
            <a:pPr marL="12700">
              <a:lnSpc>
                <a:spcPct val="100000"/>
              </a:lnSpc>
              <a:spcBef>
                <a:spcPts val="120"/>
              </a:spcBef>
            </a:pPr>
            <a:r>
              <a:rPr lang="en-US" spc="-85" noProof="0" dirty="0"/>
              <a:t>About the project </a:t>
            </a:r>
            <a:endParaRPr lang="en-US" spc="-45" noProof="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705"/>
              </a:lnSpc>
            </a:pPr>
            <a:fld id="{81D60167-4931-47E6-BA6A-407CBD079E47}" type="slidenum">
              <a:rPr lang="en-US" spc="-25" noProof="0" smtClean="0"/>
              <a:t>4</a:t>
            </a:fld>
            <a:endParaRPr lang="en-US" spc="-25" noProof="0" dirty="0"/>
          </a:p>
        </p:txBody>
      </p:sp>
      <p:sp>
        <p:nvSpPr>
          <p:cNvPr id="11" name="CasellaDiTesto 10">
            <a:extLst>
              <a:ext uri="{FF2B5EF4-FFF2-40B4-BE49-F238E27FC236}">
                <a16:creationId xmlns:a16="http://schemas.microsoft.com/office/drawing/2014/main" id="{85540CC0-2549-E1CC-2A1D-0F7E61C5BA86}"/>
              </a:ext>
            </a:extLst>
          </p:cNvPr>
          <p:cNvSpPr txBox="1"/>
          <p:nvPr/>
        </p:nvSpPr>
        <p:spPr>
          <a:xfrm>
            <a:off x="131306" y="393055"/>
            <a:ext cx="5334000" cy="3067828"/>
          </a:xfrm>
          <a:prstGeom prst="rect">
            <a:avLst/>
          </a:prstGeom>
          <a:noFill/>
        </p:spPr>
        <p:txBody>
          <a:bodyPr wrap="square">
            <a:spAutoFit/>
          </a:bodyPr>
          <a:lstStyle/>
          <a:p>
            <a:pPr marL="210185" indent="-197485">
              <a:lnSpc>
                <a:spcPct val="100000"/>
              </a:lnSpc>
              <a:spcBef>
                <a:spcPts val="95"/>
              </a:spcBef>
              <a:buClr>
                <a:srgbClr val="3F78D2"/>
              </a:buClr>
              <a:buSzPct val="104166"/>
              <a:buFont typeface="Lucida Sans Unicode"/>
              <a:buChar char="►"/>
              <a:tabLst>
                <a:tab pos="210185" algn="l"/>
              </a:tabLst>
            </a:pPr>
            <a:r>
              <a:rPr lang="en-US" sz="1000" b="1" noProof="0" dirty="0">
                <a:latin typeface="Arial"/>
                <a:cs typeface="Arial"/>
              </a:rPr>
              <a:t>What is the sentiment analysis?</a:t>
            </a:r>
          </a:p>
          <a:p>
            <a:pPr lvl="4"/>
            <a:r>
              <a:rPr lang="en-US" sz="1000" noProof="0" dirty="0">
                <a:effectLst/>
              </a:rPr>
              <a:t>Sentiment analysis is the task of determining whether a given sentence expresses a positive or negative sentiment. In this specific case, the sentences are tweets. This task is particularly challenging because it requires a deep understanding of the semantics and context of the sentence. This is </a:t>
            </a:r>
            <a:r>
              <a:rPr lang="en-US" sz="1000" spc="-10" noProof="0" dirty="0">
                <a:solidFill>
                  <a:schemeClr val="tx1"/>
                </a:solidFill>
                <a:latin typeface="Arial"/>
                <a:cs typeface="Arial"/>
              </a:rPr>
              <a:t>why </a:t>
            </a:r>
            <a:r>
              <a:rPr lang="en-US" sz="1000" spc="-10" noProof="0" dirty="0">
                <a:solidFill>
                  <a:srgbClr val="3F78D2"/>
                </a:solidFill>
                <a:latin typeface="Arial"/>
                <a:cs typeface="Arial"/>
              </a:rPr>
              <a:t>BERT </a:t>
            </a:r>
            <a:r>
              <a:rPr lang="en-US" sz="1000" noProof="0" dirty="0">
                <a:effectLst/>
              </a:rPr>
              <a:t>is used.</a:t>
            </a:r>
          </a:p>
          <a:p>
            <a:pPr lvl="4"/>
            <a:endParaRPr lang="en-US" sz="1000" noProof="0" dirty="0">
              <a:effectLst/>
            </a:endParaRPr>
          </a:p>
          <a:p>
            <a:pPr marL="210185" marR="0" lvl="0" indent="-197485" defTabSz="914400" eaLnBrk="1" fontAlgn="auto" latinLnBrk="0" hangingPunct="1">
              <a:lnSpc>
                <a:spcPct val="100000"/>
              </a:lnSpc>
              <a:spcBef>
                <a:spcPts val="95"/>
              </a:spcBef>
              <a:spcAft>
                <a:spcPts val="0"/>
              </a:spcAft>
              <a:buClr>
                <a:srgbClr val="3F78D2"/>
              </a:buClr>
              <a:buSzPct val="104166"/>
              <a:buFont typeface="Lucida Sans Unicode"/>
              <a:buChar char="►"/>
              <a:tabLst>
                <a:tab pos="210185" algn="l"/>
              </a:tabLst>
              <a:defRPr/>
            </a:pPr>
            <a:r>
              <a:rPr kumimoji="0" lang="en-US" sz="1000" b="1" i="0" u="none" strike="noStrike" kern="0" cap="none" spc="0" normalizeH="0" baseline="0" noProof="0" dirty="0">
                <a:ln>
                  <a:noFill/>
                </a:ln>
                <a:solidFill>
                  <a:sysClr val="windowText" lastClr="000000"/>
                </a:solidFill>
                <a:effectLst/>
                <a:uLnTx/>
                <a:uFillTx/>
                <a:latin typeface="Arial"/>
                <a:cs typeface="Arial"/>
              </a:rPr>
              <a:t>Why it’s used Bert?</a:t>
            </a:r>
          </a:p>
          <a:p>
            <a:r>
              <a:rPr lang="en-US" sz="1000" noProof="0" dirty="0">
                <a:effectLst/>
              </a:rPr>
              <a:t>BERT is a powerful model in the field of Natural Language Processing (NLP). It is primarily used to generate </a:t>
            </a:r>
            <a:r>
              <a:rPr lang="en-US" sz="1000" spc="-10" noProof="0" dirty="0">
                <a:solidFill>
                  <a:srgbClr val="3F78D2"/>
                </a:solidFill>
                <a:latin typeface="Arial"/>
                <a:cs typeface="Arial"/>
              </a:rPr>
              <a:t>contextual embeddings </a:t>
            </a:r>
            <a:r>
              <a:rPr lang="en-US" sz="1000" noProof="0" dirty="0">
                <a:effectLst/>
              </a:rPr>
              <a:t>of the input text. These embeddings capture the meaning of words in context, making them highly effective for various downstream tasks. </a:t>
            </a:r>
          </a:p>
          <a:p>
            <a:r>
              <a:rPr lang="en-US" sz="1000" noProof="0" dirty="0">
                <a:effectLst/>
              </a:rPr>
              <a:t>For example:  Sentiment analysis,</a:t>
            </a:r>
            <a:r>
              <a:rPr lang="en-US" sz="1000" noProof="0" dirty="0"/>
              <a:t> </a:t>
            </a:r>
            <a:r>
              <a:rPr lang="en-US" sz="1000" noProof="0" dirty="0">
                <a:effectLst/>
              </a:rPr>
              <a:t>Topic classification</a:t>
            </a:r>
            <a:r>
              <a:rPr lang="en-US" sz="1000" noProof="0" dirty="0"/>
              <a:t>, </a:t>
            </a:r>
            <a:br>
              <a:rPr lang="en-US" sz="1000" noProof="0" dirty="0"/>
            </a:br>
            <a:r>
              <a:rPr lang="en-US" sz="1000" noProof="0" dirty="0">
                <a:effectLst/>
              </a:rPr>
              <a:t>Fill-in-the-blank tasks (e.g., masked language modeling)…</a:t>
            </a:r>
          </a:p>
          <a:p>
            <a:r>
              <a:rPr lang="en-US" sz="1000" noProof="0" dirty="0">
                <a:effectLst/>
              </a:rPr>
              <a:t>However, BERT is not designed for tasks that require </a:t>
            </a:r>
            <a:r>
              <a:rPr lang="en-US" sz="1000" spc="-10" noProof="0" dirty="0">
                <a:solidFill>
                  <a:srgbClr val="3F78D2"/>
                </a:solidFill>
                <a:latin typeface="Arial"/>
                <a:cs typeface="Arial"/>
              </a:rPr>
              <a:t>text </a:t>
            </a:r>
            <a:r>
              <a:rPr lang="en-US" sz="1000" spc="-10" noProof="0" dirty="0">
                <a:solidFill>
                  <a:srgbClr val="3F78D3"/>
                </a:solidFill>
                <a:latin typeface="Arial"/>
                <a:cs typeface="Arial"/>
              </a:rPr>
              <a:t>generation</a:t>
            </a:r>
            <a:r>
              <a:rPr lang="en-US" sz="1000" noProof="0" dirty="0">
                <a:effectLst/>
              </a:rPr>
              <a:t>, such as question answering or text translation. For such tasks, models with both encoder and decoder components (e.g., Transformer-based architectures) or </a:t>
            </a:r>
            <a:br>
              <a:rPr lang="en-US" sz="1000" noProof="0" dirty="0">
                <a:effectLst/>
              </a:rPr>
            </a:br>
            <a:r>
              <a:rPr lang="en-US" sz="1000" noProof="0" dirty="0">
                <a:effectLst/>
              </a:rPr>
              <a:t>decoder-only models (e.g., GPT) are more suitable.</a:t>
            </a:r>
          </a:p>
          <a:p>
            <a:pPr>
              <a:lnSpc>
                <a:spcPts val="2100"/>
              </a:lnSpc>
              <a:spcAft>
                <a:spcPts val="1500"/>
              </a:spcAft>
            </a:pPr>
            <a:br>
              <a:rPr lang="en-US" sz="1000" noProof="0" dirty="0">
                <a:solidFill>
                  <a:srgbClr val="4D6BFE"/>
                </a:solidFill>
                <a:effectLst/>
              </a:rPr>
            </a:br>
            <a:endParaRPr lang="en-US" sz="1000" noProof="0" dirty="0">
              <a:solidFill>
                <a:srgbClr val="4D6BFE"/>
              </a:solidFill>
              <a:effectLs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5900" y="98425"/>
            <a:ext cx="4561840" cy="276999"/>
          </a:xfrm>
          <a:prstGeom prst="rect">
            <a:avLst/>
          </a:prstGeom>
        </p:spPr>
        <p:txBody>
          <a:bodyPr vert="horz" wrap="square" lIns="0" tIns="15240" rIns="0" bIns="0" rtlCol="0">
            <a:spAutoFit/>
          </a:bodyPr>
          <a:lstStyle/>
          <a:p>
            <a:pPr marL="12700">
              <a:lnSpc>
                <a:spcPct val="100000"/>
              </a:lnSpc>
              <a:spcBef>
                <a:spcPts val="120"/>
              </a:spcBef>
            </a:pPr>
            <a:r>
              <a:rPr lang="en-US" spc="-85" noProof="0" dirty="0"/>
              <a:t>Steps in the project </a:t>
            </a:r>
            <a:endParaRPr lang="en-US" spc="-25" noProof="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705"/>
              </a:lnSpc>
            </a:pPr>
            <a:fld id="{81D60167-4931-47E6-BA6A-407CBD079E47}" type="slidenum">
              <a:rPr lang="en-US" spc="-25" noProof="0" smtClean="0"/>
              <a:t>5</a:t>
            </a:fld>
            <a:endParaRPr lang="en-US" spc="-25" noProof="0" dirty="0"/>
          </a:p>
        </p:txBody>
      </p:sp>
      <p:sp>
        <p:nvSpPr>
          <p:cNvPr id="6" name="CasellaDiTesto 5">
            <a:extLst>
              <a:ext uri="{FF2B5EF4-FFF2-40B4-BE49-F238E27FC236}">
                <a16:creationId xmlns:a16="http://schemas.microsoft.com/office/drawing/2014/main" id="{69D7E9E8-5B1C-756B-4E62-9D348C820ACB}"/>
              </a:ext>
            </a:extLst>
          </p:cNvPr>
          <p:cNvSpPr txBox="1"/>
          <p:nvPr/>
        </p:nvSpPr>
        <p:spPr>
          <a:xfrm>
            <a:off x="215900" y="631825"/>
            <a:ext cx="5334000" cy="1246495"/>
          </a:xfrm>
          <a:prstGeom prst="rect">
            <a:avLst/>
          </a:prstGeom>
          <a:noFill/>
        </p:spPr>
        <p:txBody>
          <a:bodyPr wrap="square">
            <a:spAutoFit/>
          </a:bodyPr>
          <a:lstStyle/>
          <a:p>
            <a:pPr marL="210185" indent="-197485">
              <a:lnSpc>
                <a:spcPct val="100000"/>
              </a:lnSpc>
              <a:spcBef>
                <a:spcPts val="95"/>
              </a:spcBef>
              <a:buClr>
                <a:srgbClr val="3F78D2"/>
              </a:buClr>
              <a:buSzPct val="104166"/>
              <a:buFont typeface="Lucida Sans Unicode"/>
              <a:buChar char="►"/>
              <a:tabLst>
                <a:tab pos="210185" algn="l"/>
              </a:tabLst>
            </a:pPr>
            <a:r>
              <a:rPr lang="en-US" sz="1000" noProof="0" dirty="0">
                <a:solidFill>
                  <a:schemeClr val="tx1"/>
                </a:solidFill>
              </a:rPr>
              <a:t>Loading of the libraries </a:t>
            </a:r>
          </a:p>
          <a:p>
            <a:pPr marL="210185" indent="-197485">
              <a:lnSpc>
                <a:spcPct val="100000"/>
              </a:lnSpc>
              <a:spcBef>
                <a:spcPts val="95"/>
              </a:spcBef>
              <a:buClr>
                <a:srgbClr val="3F78D2"/>
              </a:buClr>
              <a:buSzPct val="104166"/>
              <a:buFont typeface="Lucida Sans Unicode"/>
              <a:buChar char="►"/>
              <a:tabLst>
                <a:tab pos="210185" algn="l"/>
              </a:tabLst>
            </a:pPr>
            <a:r>
              <a:rPr lang="en-US" sz="1000" noProof="0" dirty="0">
                <a:solidFill>
                  <a:schemeClr val="tx1"/>
                </a:solidFill>
                <a:effectLst/>
              </a:rPr>
              <a:t>Loading of the dataset and the extraction from the zip file </a:t>
            </a:r>
          </a:p>
          <a:p>
            <a:pPr marL="210185" indent="-197485">
              <a:lnSpc>
                <a:spcPct val="100000"/>
              </a:lnSpc>
              <a:spcBef>
                <a:spcPts val="95"/>
              </a:spcBef>
              <a:buClr>
                <a:srgbClr val="3F78D2"/>
              </a:buClr>
              <a:buSzPct val="104166"/>
              <a:buFont typeface="Lucida Sans Unicode"/>
              <a:buChar char="►"/>
              <a:tabLst>
                <a:tab pos="210185" algn="l"/>
              </a:tabLst>
            </a:pPr>
            <a:r>
              <a:rPr lang="en-US" sz="1000" noProof="0" dirty="0">
                <a:solidFill>
                  <a:schemeClr val="tx1"/>
                </a:solidFill>
              </a:rPr>
              <a:t>Splitting of the data </a:t>
            </a:r>
          </a:p>
          <a:p>
            <a:pPr marL="210185" indent="-197485">
              <a:lnSpc>
                <a:spcPct val="100000"/>
              </a:lnSpc>
              <a:spcBef>
                <a:spcPts val="95"/>
              </a:spcBef>
              <a:buClr>
                <a:srgbClr val="3F78D2"/>
              </a:buClr>
              <a:buSzPct val="104166"/>
              <a:buFont typeface="Lucida Sans Unicode"/>
              <a:buChar char="►"/>
              <a:tabLst>
                <a:tab pos="210185" algn="l"/>
              </a:tabLst>
            </a:pPr>
            <a:r>
              <a:rPr lang="en-US" sz="1000" noProof="0" dirty="0">
                <a:solidFill>
                  <a:schemeClr val="tx1"/>
                </a:solidFill>
                <a:effectLst/>
              </a:rPr>
              <a:t>Selecting of the model </a:t>
            </a:r>
          </a:p>
          <a:p>
            <a:pPr marL="210185" indent="-197485">
              <a:lnSpc>
                <a:spcPct val="100000"/>
              </a:lnSpc>
              <a:spcBef>
                <a:spcPts val="95"/>
              </a:spcBef>
              <a:buClr>
                <a:srgbClr val="3F78D2"/>
              </a:buClr>
              <a:buSzPct val="104166"/>
              <a:buFont typeface="Lucida Sans Unicode"/>
              <a:buChar char="►"/>
              <a:tabLst>
                <a:tab pos="210185" algn="l"/>
              </a:tabLst>
            </a:pPr>
            <a:r>
              <a:rPr lang="en-US" sz="1000" noProof="0" dirty="0">
                <a:solidFill>
                  <a:schemeClr val="tx1"/>
                </a:solidFill>
              </a:rPr>
              <a:t>Defining of the model structure </a:t>
            </a:r>
          </a:p>
          <a:p>
            <a:pPr marL="210185" indent="-197485">
              <a:lnSpc>
                <a:spcPct val="100000"/>
              </a:lnSpc>
              <a:spcBef>
                <a:spcPts val="95"/>
              </a:spcBef>
              <a:buClr>
                <a:srgbClr val="3F78D2"/>
              </a:buClr>
              <a:buSzPct val="104166"/>
              <a:buFont typeface="Lucida Sans Unicode"/>
              <a:buChar char="►"/>
              <a:tabLst>
                <a:tab pos="210185" algn="l"/>
              </a:tabLst>
            </a:pPr>
            <a:r>
              <a:rPr lang="en-US" sz="1000" noProof="0" dirty="0">
                <a:solidFill>
                  <a:schemeClr val="tx1"/>
                </a:solidFill>
                <a:effectLst/>
              </a:rPr>
              <a:t>Fi</a:t>
            </a:r>
            <a:r>
              <a:rPr lang="en-US" sz="1000" noProof="0" dirty="0">
                <a:solidFill>
                  <a:schemeClr val="tx1"/>
                </a:solidFill>
              </a:rPr>
              <a:t>ne- tuning </a:t>
            </a:r>
          </a:p>
          <a:p>
            <a:pPr marL="210185" indent="-197485">
              <a:lnSpc>
                <a:spcPct val="100000"/>
              </a:lnSpc>
              <a:spcBef>
                <a:spcPts val="95"/>
              </a:spcBef>
              <a:buClr>
                <a:srgbClr val="3F78D2"/>
              </a:buClr>
              <a:buSzPct val="104166"/>
              <a:buFont typeface="Lucida Sans Unicode"/>
              <a:buChar char="►"/>
              <a:tabLst>
                <a:tab pos="210185" algn="l"/>
              </a:tabLst>
            </a:pPr>
            <a:r>
              <a:rPr lang="en-US" sz="1000" noProof="0" dirty="0">
                <a:solidFill>
                  <a:schemeClr val="tx1"/>
                </a:solidFill>
                <a:effectLst/>
              </a:rPr>
              <a:t>See the performance </a:t>
            </a:r>
            <a:r>
              <a:rPr lang="en-US" sz="1000" noProof="0" dirty="0">
                <a:solidFill>
                  <a:schemeClr val="tx1"/>
                </a:solidFill>
              </a:rPr>
              <a:t>of the model </a:t>
            </a:r>
            <a:endParaRPr lang="en-US" sz="1000" noProof="0" dirty="0">
              <a:solidFill>
                <a:schemeClr val="tx1"/>
              </a:solidFill>
              <a:effectLst/>
            </a:endParaRPr>
          </a:p>
        </p:txBody>
      </p:sp>
      <p:pic>
        <p:nvPicPr>
          <p:cNvPr id="8" name="Elemento grafico 7" descr="Appunti parzialmente selezionati con riempimento a tinta unita">
            <a:extLst>
              <a:ext uri="{FF2B5EF4-FFF2-40B4-BE49-F238E27FC236}">
                <a16:creationId xmlns:a16="http://schemas.microsoft.com/office/drawing/2014/main" id="{317547C7-AF02-9AFA-2C0F-CFB742F552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851983">
            <a:off x="3727217" y="1041736"/>
            <a:ext cx="2185971" cy="218597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1306" y="93216"/>
            <a:ext cx="4561840" cy="538609"/>
          </a:xfrm>
          <a:prstGeom prst="rect">
            <a:avLst/>
          </a:prstGeom>
        </p:spPr>
        <p:txBody>
          <a:bodyPr vert="horz" wrap="square" lIns="0" tIns="15240" rIns="0" bIns="0" rtlCol="0">
            <a:spAutoFit/>
          </a:bodyPr>
          <a:lstStyle/>
          <a:p>
            <a:pPr marL="12700">
              <a:lnSpc>
                <a:spcPct val="100000"/>
              </a:lnSpc>
              <a:spcBef>
                <a:spcPts val="120"/>
              </a:spcBef>
            </a:pPr>
            <a:r>
              <a:rPr lang="en-US" spc="-55" noProof="0" dirty="0"/>
              <a:t>Loading of the libraries </a:t>
            </a:r>
            <a:br>
              <a:rPr lang="en-US" spc="-55" noProof="0" dirty="0"/>
            </a:br>
            <a:endParaRPr lang="en-US" spc="-55" noProof="0" dirty="0"/>
          </a:p>
        </p:txBody>
      </p:sp>
      <p:sp>
        <p:nvSpPr>
          <p:cNvPr id="3" name="object 3"/>
          <p:cNvSpPr txBox="1"/>
          <p:nvPr/>
        </p:nvSpPr>
        <p:spPr>
          <a:xfrm>
            <a:off x="172660" y="442712"/>
            <a:ext cx="2952750" cy="2133276"/>
          </a:xfrm>
          <a:prstGeom prst="rect">
            <a:avLst/>
          </a:prstGeom>
        </p:spPr>
        <p:txBody>
          <a:bodyPr vert="horz" wrap="square" lIns="0" tIns="12065" rIns="0" bIns="0" rtlCol="0">
            <a:spAutoFit/>
          </a:bodyPr>
          <a:lstStyle/>
          <a:p>
            <a:pPr marL="37465" marR="30480">
              <a:lnSpc>
                <a:spcPct val="100000"/>
              </a:lnSpc>
              <a:spcBef>
                <a:spcPts val="95"/>
              </a:spcBef>
              <a:buClr>
                <a:srgbClr val="3F78D2"/>
              </a:buClr>
              <a:buSzPct val="104166"/>
              <a:tabLst>
                <a:tab pos="234950" algn="l"/>
              </a:tabLst>
            </a:pPr>
            <a:br>
              <a:rPr lang="en-US" sz="1200" noProof="0" dirty="0">
                <a:latin typeface="Calibri"/>
                <a:cs typeface="Calibri"/>
              </a:rPr>
            </a:br>
            <a:r>
              <a:rPr lang="en-US" sz="1200" noProof="0" dirty="0">
                <a:latin typeface="Calibri"/>
                <a:cs typeface="Calibri"/>
              </a:rPr>
              <a:t>The imported libraries are essential for:</a:t>
            </a:r>
          </a:p>
          <a:p>
            <a:pPr marL="210185" marR="30480" indent="-197485">
              <a:spcBef>
                <a:spcPts val="95"/>
              </a:spcBef>
              <a:buClr>
                <a:srgbClr val="3F78D2"/>
              </a:buClr>
              <a:buSzPct val="104166"/>
              <a:buFont typeface="Lucida Sans Unicode"/>
              <a:buChar char="►"/>
              <a:tabLst>
                <a:tab pos="210185" algn="l"/>
              </a:tabLst>
            </a:pPr>
            <a:r>
              <a:rPr lang="en-US" sz="1200" noProof="0" dirty="0">
                <a:solidFill>
                  <a:schemeClr val="tx1"/>
                </a:solidFill>
              </a:rPr>
              <a:t>Working with deep learning models.</a:t>
            </a:r>
          </a:p>
          <a:p>
            <a:pPr marL="210185" marR="30480" indent="-197485">
              <a:spcBef>
                <a:spcPts val="95"/>
              </a:spcBef>
              <a:buClr>
                <a:srgbClr val="3F78D2"/>
              </a:buClr>
              <a:buSzPct val="104166"/>
              <a:buFont typeface="Lucida Sans Unicode"/>
              <a:buChar char="►"/>
              <a:tabLst>
                <a:tab pos="210185" algn="l"/>
              </a:tabLst>
            </a:pPr>
            <a:r>
              <a:rPr lang="en-US" sz="1200" noProof="0" dirty="0">
                <a:solidFill>
                  <a:schemeClr val="tx1"/>
                </a:solidFill>
              </a:rPr>
              <a:t>Managing transformer-based models, including preprocessing tasks.</a:t>
            </a:r>
          </a:p>
          <a:p>
            <a:pPr marL="210185" marR="30480" indent="-197485">
              <a:spcBef>
                <a:spcPts val="95"/>
              </a:spcBef>
              <a:buClr>
                <a:srgbClr val="3F78D2"/>
              </a:buClr>
              <a:buSzPct val="104166"/>
              <a:buFont typeface="Lucida Sans Unicode"/>
              <a:buChar char="►"/>
              <a:tabLst>
                <a:tab pos="210185" algn="l"/>
              </a:tabLst>
            </a:pPr>
            <a:r>
              <a:rPr lang="en-US" sz="1200" noProof="0" dirty="0">
                <a:solidFill>
                  <a:schemeClr val="tx1"/>
                </a:solidFill>
              </a:rPr>
              <a:t>Handling and organizing files within directories.</a:t>
            </a:r>
          </a:p>
          <a:p>
            <a:pPr marL="210185" marR="30480" indent="-197485">
              <a:spcBef>
                <a:spcPts val="95"/>
              </a:spcBef>
              <a:buClr>
                <a:srgbClr val="3F78D2"/>
              </a:buClr>
              <a:buSzPct val="104166"/>
              <a:buFont typeface="Lucida Sans Unicode"/>
              <a:buChar char="►"/>
              <a:tabLst>
                <a:tab pos="210185" algn="l"/>
              </a:tabLst>
            </a:pPr>
            <a:endParaRPr lang="en-US" sz="1200" noProof="0" dirty="0">
              <a:solidFill>
                <a:schemeClr val="tx1"/>
              </a:solidFill>
            </a:endParaRPr>
          </a:p>
          <a:p>
            <a:pPr marL="37465" marR="30480">
              <a:lnSpc>
                <a:spcPct val="100000"/>
              </a:lnSpc>
              <a:spcBef>
                <a:spcPts val="95"/>
              </a:spcBef>
              <a:buClr>
                <a:srgbClr val="3F78D2"/>
              </a:buClr>
              <a:buSzPct val="104166"/>
              <a:tabLst>
                <a:tab pos="234950" algn="l"/>
              </a:tabLst>
            </a:pPr>
            <a:endParaRPr lang="en-US" sz="1200" noProof="0" dirty="0">
              <a:latin typeface="Calibri"/>
              <a:cs typeface="Calibri"/>
            </a:endParaRPr>
          </a:p>
          <a:p>
            <a:pPr marL="37465" marR="30480">
              <a:lnSpc>
                <a:spcPct val="100000"/>
              </a:lnSpc>
              <a:spcBef>
                <a:spcPts val="95"/>
              </a:spcBef>
              <a:buClr>
                <a:srgbClr val="3F78D2"/>
              </a:buClr>
              <a:buSzPct val="104166"/>
              <a:tabLst>
                <a:tab pos="234950" algn="l"/>
              </a:tabLst>
            </a:pPr>
            <a:endParaRPr lang="en-US" sz="1200" noProof="0" dirty="0">
              <a:latin typeface="Calibri"/>
              <a:cs typeface="Calibri"/>
            </a:endParaRPr>
          </a:p>
          <a:p>
            <a:pPr marL="208915" marR="30480" indent="-171450">
              <a:lnSpc>
                <a:spcPct val="100000"/>
              </a:lnSpc>
              <a:spcBef>
                <a:spcPts val="95"/>
              </a:spcBef>
              <a:buClr>
                <a:srgbClr val="3F78D2"/>
              </a:buClr>
              <a:buSzPct val="104166"/>
              <a:buFont typeface="Arial" panose="020B0604020202020204" pitchFamily="34" charset="0"/>
              <a:buChar char="•"/>
              <a:tabLst>
                <a:tab pos="234950" algn="l"/>
              </a:tabLst>
            </a:pPr>
            <a:endParaRPr lang="en-US" sz="1200" noProof="0" dirty="0">
              <a:latin typeface="Calibri"/>
              <a:cs typeface="Calibri"/>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705"/>
              </a:lnSpc>
            </a:pPr>
            <a:fld id="{81D60167-4931-47E6-BA6A-407CBD079E47}" type="slidenum">
              <a:rPr lang="en-US" spc="-25" noProof="0" smtClean="0"/>
              <a:t>6</a:t>
            </a:fld>
            <a:endParaRPr lang="en-US" spc="-25" noProof="0" dirty="0"/>
          </a:p>
        </p:txBody>
      </p:sp>
      <p:pic>
        <p:nvPicPr>
          <p:cNvPr id="14" name="Elemento grafico 13" descr="Libri con riempimento a tinta unita">
            <a:extLst>
              <a:ext uri="{FF2B5EF4-FFF2-40B4-BE49-F238E27FC236}">
                <a16:creationId xmlns:a16="http://schemas.microsoft.com/office/drawing/2014/main" id="{BD7D426F-5233-9962-928B-F228A79D880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68500" y="1774825"/>
            <a:ext cx="1038758" cy="1038758"/>
          </a:xfrm>
          <a:prstGeom prst="rect">
            <a:avLst/>
          </a:prstGeom>
        </p:spPr>
      </p:pic>
      <p:pic>
        <p:nvPicPr>
          <p:cNvPr id="9" name="Immagine 8" descr="Immagine che contiene testo, schermata, Carattere, documento&#10;&#10;Il contenuto generato dall'IA potrebbe non essere corretto.">
            <a:extLst>
              <a:ext uri="{FF2B5EF4-FFF2-40B4-BE49-F238E27FC236}">
                <a16:creationId xmlns:a16="http://schemas.microsoft.com/office/drawing/2014/main" id="{D71FCFBD-52CE-F169-B4D9-902E23E25B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99700" y="487894"/>
            <a:ext cx="2402084" cy="223202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ACD36-D8EA-84AC-4CFE-10365A7A375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6F6CE24-F329-7540-993B-60B460D03755}"/>
              </a:ext>
            </a:extLst>
          </p:cNvPr>
          <p:cNvSpPr txBox="1">
            <a:spLocks noGrp="1"/>
          </p:cNvSpPr>
          <p:nvPr>
            <p:ph type="title"/>
          </p:nvPr>
        </p:nvSpPr>
        <p:spPr>
          <a:xfrm>
            <a:off x="131306" y="93216"/>
            <a:ext cx="4561840" cy="800219"/>
          </a:xfrm>
          <a:prstGeom prst="rect">
            <a:avLst/>
          </a:prstGeom>
        </p:spPr>
        <p:txBody>
          <a:bodyPr vert="horz" wrap="square" lIns="0" tIns="15240" rIns="0" bIns="0" rtlCol="0">
            <a:spAutoFit/>
          </a:bodyPr>
          <a:lstStyle/>
          <a:p>
            <a:pPr marL="12700" algn="r">
              <a:spcBef>
                <a:spcPts val="120"/>
              </a:spcBef>
            </a:pPr>
            <a:r>
              <a:rPr lang="en-US" spc="-90" noProof="0" dirty="0"/>
              <a:t>The dataset  </a:t>
            </a:r>
            <a:br>
              <a:rPr lang="en-US" spc="-20" noProof="0" dirty="0"/>
            </a:br>
            <a:br>
              <a:rPr lang="en-US" spc="-55" noProof="0" dirty="0"/>
            </a:br>
            <a:endParaRPr lang="en-US" spc="-55" noProof="0" dirty="0"/>
          </a:p>
        </p:txBody>
      </p:sp>
      <p:sp>
        <p:nvSpPr>
          <p:cNvPr id="6" name="object 6">
            <a:extLst>
              <a:ext uri="{FF2B5EF4-FFF2-40B4-BE49-F238E27FC236}">
                <a16:creationId xmlns:a16="http://schemas.microsoft.com/office/drawing/2014/main" id="{395E3213-656C-0FBF-B5DA-EC829F2C36A4}"/>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705"/>
              </a:lnSpc>
            </a:pPr>
            <a:fld id="{81D60167-4931-47E6-BA6A-407CBD079E47}" type="slidenum">
              <a:rPr lang="en-US" spc="-25" noProof="0" smtClean="0"/>
              <a:t>7</a:t>
            </a:fld>
            <a:endParaRPr lang="en-US" spc="-25" noProof="0" dirty="0"/>
          </a:p>
        </p:txBody>
      </p:sp>
      <p:sp>
        <p:nvSpPr>
          <p:cNvPr id="5" name="CasellaDiTesto 4">
            <a:extLst>
              <a:ext uri="{FF2B5EF4-FFF2-40B4-BE49-F238E27FC236}">
                <a16:creationId xmlns:a16="http://schemas.microsoft.com/office/drawing/2014/main" id="{D5EA77D2-5CDC-950E-7F57-A4D1404B4981}"/>
              </a:ext>
            </a:extLst>
          </p:cNvPr>
          <p:cNvSpPr txBox="1"/>
          <p:nvPr/>
        </p:nvSpPr>
        <p:spPr>
          <a:xfrm>
            <a:off x="2801769" y="555625"/>
            <a:ext cx="2694511" cy="1572225"/>
          </a:xfrm>
          <a:prstGeom prst="rect">
            <a:avLst/>
          </a:prstGeom>
          <a:noFill/>
        </p:spPr>
        <p:txBody>
          <a:bodyPr wrap="square" rtlCol="0">
            <a:spAutoFit/>
          </a:bodyPr>
          <a:lstStyle/>
          <a:p>
            <a:pPr marL="12700">
              <a:spcBef>
                <a:spcPts val="95"/>
              </a:spcBef>
              <a:buClr>
                <a:srgbClr val="3F78D2"/>
              </a:buClr>
              <a:buSzPct val="104166"/>
              <a:tabLst>
                <a:tab pos="210185" algn="l"/>
              </a:tabLst>
            </a:pPr>
            <a:r>
              <a:rPr lang="en-US" sz="1050" noProof="0" dirty="0">
                <a:solidFill>
                  <a:schemeClr val="tx1"/>
                </a:solidFill>
              </a:rPr>
              <a:t>The original data is provided as a zip file</a:t>
            </a:r>
            <a:r>
              <a:rPr lang="en-US" sz="1050" dirty="0">
                <a:solidFill>
                  <a:schemeClr val="tx1"/>
                </a:solidFill>
              </a:rPr>
              <a:t> in the directory of drive and automatically loaded in other way, without drive, the zip must be added every new runtime.</a:t>
            </a:r>
          </a:p>
          <a:p>
            <a:pPr marL="12700">
              <a:spcBef>
                <a:spcPts val="95"/>
              </a:spcBef>
              <a:buClr>
                <a:srgbClr val="3F78D2"/>
              </a:buClr>
              <a:buSzPct val="104166"/>
              <a:tabLst>
                <a:tab pos="210185" algn="l"/>
              </a:tabLst>
            </a:pPr>
            <a:r>
              <a:rPr lang="en-US" sz="1050" noProof="0" dirty="0">
                <a:solidFill>
                  <a:schemeClr val="tx1"/>
                </a:solidFill>
              </a:rPr>
              <a:t>The data is organized into two subdirectories, where each directory acts as a label.</a:t>
            </a:r>
          </a:p>
          <a:p>
            <a:pPr marL="12700">
              <a:spcBef>
                <a:spcPts val="95"/>
              </a:spcBef>
              <a:buClr>
                <a:srgbClr val="3F78D2"/>
              </a:buClr>
              <a:buSzPct val="104166"/>
              <a:tabLst>
                <a:tab pos="210185" algn="l"/>
              </a:tabLst>
            </a:pPr>
            <a:r>
              <a:rPr lang="en-US" sz="1050" noProof="0" dirty="0">
                <a:solidFill>
                  <a:schemeClr val="tx1"/>
                </a:solidFill>
              </a:rPr>
              <a:t>Inside these directories, there are .txt files containing individual tweet instances.</a:t>
            </a:r>
          </a:p>
        </p:txBody>
      </p:sp>
      <p:pic>
        <p:nvPicPr>
          <p:cNvPr id="13" name="Elemento grafico 12" descr="Apri cartella con riempimento a tinta unita">
            <a:extLst>
              <a:ext uri="{FF2B5EF4-FFF2-40B4-BE49-F238E27FC236}">
                <a16:creationId xmlns:a16="http://schemas.microsoft.com/office/drawing/2014/main" id="{8060F34E-C54F-9362-C8EB-A994A7A61FD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3047" y="2155825"/>
            <a:ext cx="640106" cy="640106"/>
          </a:xfrm>
          <a:prstGeom prst="rect">
            <a:avLst/>
          </a:prstGeom>
        </p:spPr>
      </p:pic>
      <p:pic>
        <p:nvPicPr>
          <p:cNvPr id="7" name="Immagine 6" descr="Immagine che contiene testo, schermata&#10;&#10;Il contenuto generato dall'IA potrebbe non essere corretto.">
            <a:extLst>
              <a:ext uri="{FF2B5EF4-FFF2-40B4-BE49-F238E27FC236}">
                <a16:creationId xmlns:a16="http://schemas.microsoft.com/office/drawing/2014/main" id="{4321AA3E-63A7-B580-817E-5BE8E2B4BBEA}"/>
              </a:ext>
            </a:extLst>
          </p:cNvPr>
          <p:cNvPicPr>
            <a:picLocks noChangeAspect="1"/>
          </p:cNvPicPr>
          <p:nvPr/>
        </p:nvPicPr>
        <p:blipFill>
          <a:blip r:embed="rId4">
            <a:extLst>
              <a:ext uri="{28A0092B-C50C-407E-A947-70E740481C1C}">
                <a14:useLocalDpi xmlns:a14="http://schemas.microsoft.com/office/drawing/2010/main" val="0"/>
              </a:ext>
            </a:extLst>
          </a:blip>
          <a:srcRect t="19446" r="80581" b="46276"/>
          <a:stretch/>
        </p:blipFill>
        <p:spPr>
          <a:xfrm>
            <a:off x="1529087" y="936625"/>
            <a:ext cx="1256518" cy="952696"/>
          </a:xfrm>
          <a:prstGeom prst="rect">
            <a:avLst/>
          </a:prstGeom>
        </p:spPr>
      </p:pic>
      <p:pic>
        <p:nvPicPr>
          <p:cNvPr id="9" name="Immagine 8" descr="Immagine che contiene testo, schermata&#10;&#10;Il contenuto generato dall'IA potrebbe non essere corretto.">
            <a:extLst>
              <a:ext uri="{FF2B5EF4-FFF2-40B4-BE49-F238E27FC236}">
                <a16:creationId xmlns:a16="http://schemas.microsoft.com/office/drawing/2014/main" id="{993B8A84-9695-8398-AB73-3EB25B14F59D}"/>
              </a:ext>
            </a:extLst>
          </p:cNvPr>
          <p:cNvPicPr>
            <a:picLocks noChangeAspect="1"/>
          </p:cNvPicPr>
          <p:nvPr/>
        </p:nvPicPr>
        <p:blipFill>
          <a:blip r:embed="rId4">
            <a:extLst>
              <a:ext uri="{28A0092B-C50C-407E-A947-70E740481C1C}">
                <a14:useLocalDpi xmlns:a14="http://schemas.microsoft.com/office/drawing/2010/main" val="0"/>
              </a:ext>
            </a:extLst>
          </a:blip>
          <a:srcRect l="23762" t="5486" r="18950" b="79760"/>
          <a:stretch/>
        </p:blipFill>
        <p:spPr>
          <a:xfrm>
            <a:off x="1213478" y="2349435"/>
            <a:ext cx="4561840" cy="504615"/>
          </a:xfrm>
          <a:prstGeom prst="rect">
            <a:avLst/>
          </a:prstGeom>
        </p:spPr>
      </p:pic>
      <p:pic>
        <p:nvPicPr>
          <p:cNvPr id="8" name="Immagine 7" descr="Immagine che contiene testo, schermata, Carattere&#10;&#10;Il contenuto generato dall'IA potrebbe non essere corretto.">
            <a:extLst>
              <a:ext uri="{FF2B5EF4-FFF2-40B4-BE49-F238E27FC236}">
                <a16:creationId xmlns:a16="http://schemas.microsoft.com/office/drawing/2014/main" id="{FFB3E477-6123-5728-8316-9C1A5136BCD7}"/>
              </a:ext>
            </a:extLst>
          </p:cNvPr>
          <p:cNvPicPr>
            <a:picLocks noChangeAspect="1"/>
          </p:cNvPicPr>
          <p:nvPr/>
        </p:nvPicPr>
        <p:blipFill>
          <a:blip r:embed="rId5">
            <a:extLst>
              <a:ext uri="{28A0092B-C50C-407E-A947-70E740481C1C}">
                <a14:useLocalDpi xmlns:a14="http://schemas.microsoft.com/office/drawing/2010/main" val="0"/>
              </a:ext>
            </a:extLst>
          </a:blip>
          <a:srcRect r="8812"/>
          <a:stretch/>
        </p:blipFill>
        <p:spPr>
          <a:xfrm>
            <a:off x="256405" y="249177"/>
            <a:ext cx="1256518" cy="1989466"/>
          </a:xfrm>
          <a:prstGeom prst="rect">
            <a:avLst/>
          </a:prstGeom>
        </p:spPr>
      </p:pic>
    </p:spTree>
    <p:extLst>
      <p:ext uri="{BB962C8B-B14F-4D97-AF65-F5344CB8AC3E}">
        <p14:creationId xmlns:p14="http://schemas.microsoft.com/office/powerpoint/2010/main" val="27453948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9107FE8-9F9B-988C-374E-56414F8E7D04}"/>
              </a:ext>
            </a:extLst>
          </p:cNvPr>
          <p:cNvSpPr>
            <a:spLocks noGrp="1"/>
          </p:cNvSpPr>
          <p:nvPr>
            <p:ph type="title"/>
          </p:nvPr>
        </p:nvSpPr>
        <p:spPr>
          <a:xfrm>
            <a:off x="131306" y="35542"/>
            <a:ext cx="4561840" cy="261610"/>
          </a:xfrm>
        </p:spPr>
        <p:txBody>
          <a:bodyPr/>
          <a:lstStyle/>
          <a:p>
            <a:r>
              <a:rPr lang="en-US" noProof="0" dirty="0"/>
              <a:t>Splitting the data </a:t>
            </a:r>
          </a:p>
        </p:txBody>
      </p:sp>
      <p:sp>
        <p:nvSpPr>
          <p:cNvPr id="6" name="CasellaDiTesto 5">
            <a:extLst>
              <a:ext uri="{FF2B5EF4-FFF2-40B4-BE49-F238E27FC236}">
                <a16:creationId xmlns:a16="http://schemas.microsoft.com/office/drawing/2014/main" id="{7CB571A3-9758-04A9-DE59-847018E26863}"/>
              </a:ext>
            </a:extLst>
          </p:cNvPr>
          <p:cNvSpPr txBox="1"/>
          <p:nvPr/>
        </p:nvSpPr>
        <p:spPr>
          <a:xfrm>
            <a:off x="131306" y="565274"/>
            <a:ext cx="4246092" cy="1746632"/>
          </a:xfrm>
          <a:prstGeom prst="rect">
            <a:avLst/>
          </a:prstGeom>
          <a:noFill/>
        </p:spPr>
        <p:txBody>
          <a:bodyPr wrap="square">
            <a:spAutoFit/>
          </a:bodyPr>
          <a:lstStyle/>
          <a:p>
            <a:pPr algn="l"/>
            <a:r>
              <a:rPr lang="en-US" sz="1050" dirty="0">
                <a:solidFill>
                  <a:schemeClr val="tx1"/>
                </a:solidFill>
              </a:rPr>
              <a:t>The data split is a crucial step in this project to ensure that not all the data is used at once. In this case, the data is divided into three sets:</a:t>
            </a:r>
          </a:p>
          <a:p>
            <a:pPr marL="210185" marR="30480" indent="-197485">
              <a:spcBef>
                <a:spcPts val="95"/>
              </a:spcBef>
              <a:buClr>
                <a:srgbClr val="3F78D2"/>
              </a:buClr>
              <a:buSzPct val="104166"/>
              <a:buFont typeface="Lucida Sans Unicode"/>
              <a:buChar char="►"/>
              <a:tabLst>
                <a:tab pos="210185" algn="l"/>
              </a:tabLst>
            </a:pPr>
            <a:r>
              <a:rPr lang="en-US" sz="1050" noProof="0" dirty="0">
                <a:solidFill>
                  <a:srgbClr val="3F78D3"/>
                </a:solidFill>
              </a:rPr>
              <a:t>Training Data: </a:t>
            </a:r>
            <a:r>
              <a:rPr lang="en-US" sz="1050" noProof="0" dirty="0">
                <a:solidFill>
                  <a:schemeClr val="tx1"/>
                </a:solidFill>
              </a:rPr>
              <a:t>Used for fine-tuning the model.</a:t>
            </a:r>
          </a:p>
          <a:p>
            <a:pPr marL="210185" marR="30480" indent="-197485">
              <a:spcBef>
                <a:spcPts val="95"/>
              </a:spcBef>
              <a:buClr>
                <a:srgbClr val="3F78D2"/>
              </a:buClr>
              <a:buSzPct val="104166"/>
              <a:buFont typeface="Lucida Sans Unicode"/>
              <a:buChar char="►"/>
              <a:tabLst>
                <a:tab pos="210185" algn="l"/>
              </a:tabLst>
            </a:pPr>
            <a:r>
              <a:rPr lang="en-US" sz="1050" noProof="0" dirty="0">
                <a:solidFill>
                  <a:srgbClr val="3F78D3"/>
                </a:solidFill>
              </a:rPr>
              <a:t>Validation Data: </a:t>
            </a:r>
            <a:r>
              <a:rPr lang="en-US" sz="1050" noProof="0" dirty="0">
                <a:solidFill>
                  <a:schemeClr val="tx1"/>
                </a:solidFill>
              </a:rPr>
              <a:t>Used to evaluate the model during training and to implement early stopping. Early stopping is particularly useful if the training process takes too long, as it prevents overfitting by stopping training after a few epochs if no improvement is observed.</a:t>
            </a:r>
          </a:p>
          <a:p>
            <a:pPr marL="210185" marR="30480" indent="-197485">
              <a:spcBef>
                <a:spcPts val="95"/>
              </a:spcBef>
              <a:buClr>
                <a:srgbClr val="3F78D2"/>
              </a:buClr>
              <a:buSzPct val="104166"/>
              <a:buFont typeface="Lucida Sans Unicode"/>
              <a:buChar char="►"/>
              <a:tabLst>
                <a:tab pos="210185" algn="l"/>
              </a:tabLst>
            </a:pPr>
            <a:r>
              <a:rPr lang="en-US" sz="1050" noProof="0" dirty="0">
                <a:solidFill>
                  <a:srgbClr val="3F78D3"/>
                </a:solidFill>
              </a:rPr>
              <a:t>Test Data: </a:t>
            </a:r>
            <a:r>
              <a:rPr lang="en-US" sz="1050" noProof="0" dirty="0">
                <a:solidFill>
                  <a:schemeClr val="tx1"/>
                </a:solidFill>
              </a:rPr>
              <a:t>Used to evaluate the model on unseen data, providing an unbiased assessment of its performance.</a:t>
            </a:r>
          </a:p>
        </p:txBody>
      </p:sp>
      <p:pic>
        <p:nvPicPr>
          <p:cNvPr id="10" name="Elemento grafico 9" descr="Diagramma di flusso con riempimento a tinta unita">
            <a:extLst>
              <a:ext uri="{FF2B5EF4-FFF2-40B4-BE49-F238E27FC236}">
                <a16:creationId xmlns:a16="http://schemas.microsoft.com/office/drawing/2014/main" id="{FB9DF56E-4536-FA59-4363-22816A56D87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435892">
            <a:off x="3892344" y="1336470"/>
            <a:ext cx="1605094" cy="1605094"/>
          </a:xfrm>
          <a:prstGeom prst="rect">
            <a:avLst/>
          </a:prstGeom>
        </p:spPr>
      </p:pic>
      <p:sp>
        <p:nvSpPr>
          <p:cNvPr id="11" name="CasellaDiTesto 10">
            <a:extLst>
              <a:ext uri="{FF2B5EF4-FFF2-40B4-BE49-F238E27FC236}">
                <a16:creationId xmlns:a16="http://schemas.microsoft.com/office/drawing/2014/main" id="{B7EA0BED-01F6-7E2F-798C-750190CC8984}"/>
              </a:ext>
            </a:extLst>
          </p:cNvPr>
          <p:cNvSpPr txBox="1"/>
          <p:nvPr/>
        </p:nvSpPr>
        <p:spPr>
          <a:xfrm rot="379955">
            <a:off x="4420588" y="1615073"/>
            <a:ext cx="979755" cy="261610"/>
          </a:xfrm>
          <a:prstGeom prst="rect">
            <a:avLst/>
          </a:prstGeom>
          <a:noFill/>
        </p:spPr>
        <p:txBody>
          <a:bodyPr wrap="square" rtlCol="0">
            <a:spAutoFit/>
          </a:bodyPr>
          <a:lstStyle/>
          <a:p>
            <a:r>
              <a:rPr lang="en-US" sz="1100" noProof="0" dirty="0">
                <a:solidFill>
                  <a:schemeClr val="bg1"/>
                </a:solidFill>
              </a:rPr>
              <a:t>Dataset</a:t>
            </a:r>
          </a:p>
        </p:txBody>
      </p:sp>
      <p:sp>
        <p:nvSpPr>
          <p:cNvPr id="12" name="Ovale 11">
            <a:extLst>
              <a:ext uri="{FF2B5EF4-FFF2-40B4-BE49-F238E27FC236}">
                <a16:creationId xmlns:a16="http://schemas.microsoft.com/office/drawing/2014/main" id="{92E80D5F-C183-39D0-30AA-DD4DFF292638}"/>
              </a:ext>
            </a:extLst>
          </p:cNvPr>
          <p:cNvSpPr/>
          <p:nvPr/>
        </p:nvSpPr>
        <p:spPr>
          <a:xfrm>
            <a:off x="3809817" y="2386972"/>
            <a:ext cx="540000" cy="540000"/>
          </a:xfrm>
          <a:prstGeom prst="ellipse">
            <a:avLst/>
          </a:prstGeom>
          <a:solidFill>
            <a:srgbClr val="3F78D3"/>
          </a:solidFill>
          <a:ln>
            <a:solidFill>
              <a:srgbClr val="3F78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noProof="0" dirty="0"/>
              <a:t>0.7</a:t>
            </a:r>
          </a:p>
        </p:txBody>
      </p:sp>
      <p:sp>
        <p:nvSpPr>
          <p:cNvPr id="14" name="Rettangolo 13">
            <a:extLst>
              <a:ext uri="{FF2B5EF4-FFF2-40B4-BE49-F238E27FC236}">
                <a16:creationId xmlns:a16="http://schemas.microsoft.com/office/drawing/2014/main" id="{4ACD08FB-8E65-1636-0B85-CEA4A7C9352C}"/>
              </a:ext>
            </a:extLst>
          </p:cNvPr>
          <p:cNvSpPr/>
          <p:nvPr/>
        </p:nvSpPr>
        <p:spPr>
          <a:xfrm rot="548260">
            <a:off x="4529465" y="2510820"/>
            <a:ext cx="762000" cy="304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Ovale 12">
            <a:extLst>
              <a:ext uri="{FF2B5EF4-FFF2-40B4-BE49-F238E27FC236}">
                <a16:creationId xmlns:a16="http://schemas.microsoft.com/office/drawing/2014/main" id="{71B8EA84-0E33-542A-9536-DC3F93D1C310}"/>
              </a:ext>
            </a:extLst>
          </p:cNvPr>
          <p:cNvSpPr/>
          <p:nvPr/>
        </p:nvSpPr>
        <p:spPr>
          <a:xfrm>
            <a:off x="5092700" y="2553501"/>
            <a:ext cx="72000" cy="72000"/>
          </a:xfrm>
          <a:prstGeom prst="ellipse">
            <a:avLst/>
          </a:prstGeom>
          <a:solidFill>
            <a:srgbClr val="3F78D3"/>
          </a:solidFill>
          <a:ln>
            <a:solidFill>
              <a:srgbClr val="3F78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e 14">
            <a:extLst>
              <a:ext uri="{FF2B5EF4-FFF2-40B4-BE49-F238E27FC236}">
                <a16:creationId xmlns:a16="http://schemas.microsoft.com/office/drawing/2014/main" id="{2D0BB18E-340A-9524-BCCD-CE37B05C2DC9}"/>
              </a:ext>
            </a:extLst>
          </p:cNvPr>
          <p:cNvSpPr/>
          <p:nvPr/>
        </p:nvSpPr>
        <p:spPr>
          <a:xfrm>
            <a:off x="4554994" y="2479475"/>
            <a:ext cx="151200" cy="151200"/>
          </a:xfrm>
          <a:prstGeom prst="ellipse">
            <a:avLst/>
          </a:prstGeom>
          <a:solidFill>
            <a:srgbClr val="3F78D3"/>
          </a:solidFill>
          <a:ln>
            <a:solidFill>
              <a:srgbClr val="3F78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 noProof="0" dirty="0"/>
          </a:p>
        </p:txBody>
      </p:sp>
      <p:sp>
        <p:nvSpPr>
          <p:cNvPr id="17" name="CasellaDiTesto 16">
            <a:extLst>
              <a:ext uri="{FF2B5EF4-FFF2-40B4-BE49-F238E27FC236}">
                <a16:creationId xmlns:a16="http://schemas.microsoft.com/office/drawing/2014/main" id="{78799209-E8B2-E698-B197-C058FF65A37C}"/>
              </a:ext>
            </a:extLst>
          </p:cNvPr>
          <p:cNvSpPr txBox="1"/>
          <p:nvPr/>
        </p:nvSpPr>
        <p:spPr>
          <a:xfrm rot="379955">
            <a:off x="3639401" y="2954654"/>
            <a:ext cx="979755" cy="261610"/>
          </a:xfrm>
          <a:prstGeom prst="rect">
            <a:avLst/>
          </a:prstGeom>
          <a:noFill/>
        </p:spPr>
        <p:txBody>
          <a:bodyPr wrap="square" rtlCol="0">
            <a:spAutoFit/>
          </a:bodyPr>
          <a:lstStyle/>
          <a:p>
            <a:r>
              <a:rPr lang="en-US" sz="1100" noProof="0" dirty="0">
                <a:solidFill>
                  <a:srgbClr val="3F78D3"/>
                </a:solidFill>
              </a:rPr>
              <a:t>Training</a:t>
            </a:r>
          </a:p>
        </p:txBody>
      </p:sp>
      <p:sp>
        <p:nvSpPr>
          <p:cNvPr id="18" name="CasellaDiTesto 17">
            <a:extLst>
              <a:ext uri="{FF2B5EF4-FFF2-40B4-BE49-F238E27FC236}">
                <a16:creationId xmlns:a16="http://schemas.microsoft.com/office/drawing/2014/main" id="{1735ADC1-BE16-38A0-CFA9-59EBC4079B45}"/>
              </a:ext>
            </a:extLst>
          </p:cNvPr>
          <p:cNvSpPr txBox="1"/>
          <p:nvPr/>
        </p:nvSpPr>
        <p:spPr>
          <a:xfrm rot="379955">
            <a:off x="4495063" y="2515121"/>
            <a:ext cx="979755" cy="169277"/>
          </a:xfrm>
          <a:prstGeom prst="rect">
            <a:avLst/>
          </a:prstGeom>
          <a:noFill/>
        </p:spPr>
        <p:txBody>
          <a:bodyPr wrap="square" rtlCol="0">
            <a:spAutoFit/>
          </a:bodyPr>
          <a:lstStyle/>
          <a:p>
            <a:r>
              <a:rPr lang="en-US" sz="500" noProof="0" dirty="0">
                <a:solidFill>
                  <a:schemeClr val="bg1"/>
                </a:solidFill>
              </a:rPr>
              <a:t>0.2</a:t>
            </a:r>
          </a:p>
        </p:txBody>
      </p:sp>
      <p:sp>
        <p:nvSpPr>
          <p:cNvPr id="19" name="CasellaDiTesto 18">
            <a:extLst>
              <a:ext uri="{FF2B5EF4-FFF2-40B4-BE49-F238E27FC236}">
                <a16:creationId xmlns:a16="http://schemas.microsoft.com/office/drawing/2014/main" id="{14A626AD-83C4-552E-E953-5BF1609E1FDF}"/>
              </a:ext>
            </a:extLst>
          </p:cNvPr>
          <p:cNvSpPr txBox="1"/>
          <p:nvPr/>
        </p:nvSpPr>
        <p:spPr>
          <a:xfrm rot="379955">
            <a:off x="5012668" y="2564686"/>
            <a:ext cx="979755" cy="138499"/>
          </a:xfrm>
          <a:prstGeom prst="rect">
            <a:avLst/>
          </a:prstGeom>
          <a:noFill/>
        </p:spPr>
        <p:txBody>
          <a:bodyPr wrap="square" rtlCol="0">
            <a:spAutoFit/>
          </a:bodyPr>
          <a:lstStyle/>
          <a:p>
            <a:r>
              <a:rPr lang="en-US" sz="300" noProof="0" dirty="0">
                <a:solidFill>
                  <a:schemeClr val="bg1"/>
                </a:solidFill>
              </a:rPr>
              <a:t>0.1</a:t>
            </a:r>
          </a:p>
        </p:txBody>
      </p:sp>
      <p:sp>
        <p:nvSpPr>
          <p:cNvPr id="20" name="CasellaDiTesto 19">
            <a:extLst>
              <a:ext uri="{FF2B5EF4-FFF2-40B4-BE49-F238E27FC236}">
                <a16:creationId xmlns:a16="http://schemas.microsoft.com/office/drawing/2014/main" id="{DDAA6284-1EDA-BFFD-A6C1-D1968671EA3E}"/>
              </a:ext>
            </a:extLst>
          </p:cNvPr>
          <p:cNvSpPr txBox="1"/>
          <p:nvPr/>
        </p:nvSpPr>
        <p:spPr>
          <a:xfrm rot="379955">
            <a:off x="4290169" y="2683724"/>
            <a:ext cx="979755" cy="261610"/>
          </a:xfrm>
          <a:prstGeom prst="rect">
            <a:avLst/>
          </a:prstGeom>
          <a:noFill/>
        </p:spPr>
        <p:txBody>
          <a:bodyPr wrap="square" rtlCol="0">
            <a:spAutoFit/>
          </a:bodyPr>
          <a:lstStyle/>
          <a:p>
            <a:r>
              <a:rPr lang="en-US" sz="1100" noProof="0" dirty="0">
                <a:solidFill>
                  <a:srgbClr val="3F78D3"/>
                </a:solidFill>
              </a:rPr>
              <a:t>Validation</a:t>
            </a:r>
          </a:p>
        </p:txBody>
      </p:sp>
      <p:sp>
        <p:nvSpPr>
          <p:cNvPr id="21" name="CasellaDiTesto 20">
            <a:extLst>
              <a:ext uri="{FF2B5EF4-FFF2-40B4-BE49-F238E27FC236}">
                <a16:creationId xmlns:a16="http://schemas.microsoft.com/office/drawing/2014/main" id="{43A223CB-4A63-BF05-DC61-B40DB921D016}"/>
              </a:ext>
            </a:extLst>
          </p:cNvPr>
          <p:cNvSpPr txBox="1"/>
          <p:nvPr/>
        </p:nvSpPr>
        <p:spPr>
          <a:xfrm rot="379955">
            <a:off x="4817561" y="2608817"/>
            <a:ext cx="979755" cy="261610"/>
          </a:xfrm>
          <a:prstGeom prst="rect">
            <a:avLst/>
          </a:prstGeom>
          <a:noFill/>
        </p:spPr>
        <p:txBody>
          <a:bodyPr wrap="square" rtlCol="0">
            <a:spAutoFit/>
          </a:bodyPr>
          <a:lstStyle/>
          <a:p>
            <a:r>
              <a:rPr lang="en-US" sz="1100" noProof="0" dirty="0">
                <a:solidFill>
                  <a:srgbClr val="3F78D3"/>
                </a:solidFill>
              </a:rPr>
              <a:t>Testing</a:t>
            </a:r>
          </a:p>
        </p:txBody>
      </p:sp>
    </p:spTree>
    <p:extLst>
      <p:ext uri="{BB962C8B-B14F-4D97-AF65-F5344CB8AC3E}">
        <p14:creationId xmlns:p14="http://schemas.microsoft.com/office/powerpoint/2010/main" val="21569466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4F806-4943-9FCA-3B58-5D9676AB3FC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9DF54DB-8FB9-B2D7-7346-E665A16DC92C}"/>
              </a:ext>
            </a:extLst>
          </p:cNvPr>
          <p:cNvSpPr>
            <a:spLocks noGrp="1"/>
          </p:cNvSpPr>
          <p:nvPr>
            <p:ph type="title"/>
          </p:nvPr>
        </p:nvSpPr>
        <p:spPr>
          <a:xfrm>
            <a:off x="131306" y="35542"/>
            <a:ext cx="4561840" cy="261610"/>
          </a:xfrm>
        </p:spPr>
        <p:txBody>
          <a:bodyPr/>
          <a:lstStyle/>
          <a:p>
            <a:r>
              <a:rPr lang="en-US" noProof="0" dirty="0"/>
              <a:t>Selecting the model </a:t>
            </a:r>
          </a:p>
        </p:txBody>
      </p:sp>
      <p:sp>
        <p:nvSpPr>
          <p:cNvPr id="6" name="CasellaDiTesto 5">
            <a:extLst>
              <a:ext uri="{FF2B5EF4-FFF2-40B4-BE49-F238E27FC236}">
                <a16:creationId xmlns:a16="http://schemas.microsoft.com/office/drawing/2014/main" id="{8194E511-2143-06BF-7302-F4C0C97B3075}"/>
              </a:ext>
            </a:extLst>
          </p:cNvPr>
          <p:cNvSpPr txBox="1"/>
          <p:nvPr/>
        </p:nvSpPr>
        <p:spPr>
          <a:xfrm>
            <a:off x="131307" y="565274"/>
            <a:ext cx="3496655" cy="1546577"/>
          </a:xfrm>
          <a:prstGeom prst="rect">
            <a:avLst/>
          </a:prstGeom>
          <a:noFill/>
        </p:spPr>
        <p:txBody>
          <a:bodyPr wrap="square">
            <a:spAutoFit/>
          </a:bodyPr>
          <a:lstStyle/>
          <a:p>
            <a:pPr algn="l"/>
            <a:r>
              <a:rPr lang="en-US" sz="1050" dirty="0">
                <a:solidFill>
                  <a:schemeClr val="tx1"/>
                </a:solidFill>
              </a:rPr>
              <a:t>The model was chosen for</a:t>
            </a:r>
            <a:r>
              <a:rPr lang="en-US" sz="1050" b="0" i="0" noProof="0" dirty="0">
                <a:solidFill>
                  <a:schemeClr val="tx1"/>
                </a:solidFill>
                <a:effectLst/>
                <a:latin typeface="Inter"/>
              </a:rPr>
              <a:t> experimental purposes. </a:t>
            </a:r>
          </a:p>
          <a:p>
            <a:pPr algn="l"/>
            <a:r>
              <a:rPr lang="en-US" sz="1050" dirty="0">
                <a:solidFill>
                  <a:schemeClr val="tx1"/>
                </a:solidFill>
              </a:rPr>
              <a:t>While it may not represent the best possible performance, it’s used as a </a:t>
            </a:r>
            <a:r>
              <a:rPr lang="en-US" sz="1050" b="0" i="0" noProof="0" dirty="0">
                <a:solidFill>
                  <a:schemeClr val="tx1"/>
                </a:solidFill>
                <a:effectLst/>
                <a:latin typeface="Inter"/>
              </a:rPr>
              <a:t>solid starting point </a:t>
            </a:r>
            <a:r>
              <a:rPr lang="en-US" sz="1050" dirty="0">
                <a:solidFill>
                  <a:schemeClr val="tx1"/>
                </a:solidFill>
              </a:rPr>
              <a:t>for working with transformers.</a:t>
            </a:r>
          </a:p>
          <a:p>
            <a:pPr algn="l"/>
            <a:r>
              <a:rPr lang="en-US" sz="1050" dirty="0">
                <a:solidFill>
                  <a:schemeClr val="tx1"/>
                </a:solidFill>
              </a:rPr>
              <a:t>The model was downloaded from TensorFlow because training a model from scratch requires significant effort and resources. Instead, it’s opted to use a pre-trained model and then applied fine-tuning to adapt it to our specific task.</a:t>
            </a:r>
          </a:p>
        </p:txBody>
      </p:sp>
      <p:pic>
        <p:nvPicPr>
          <p:cNvPr id="4" name="Immagine 3" descr="Immagine che contiene testo, Carattere, logo, Elementi grafici&#10;&#10;Il contenuto generato dall'IA potrebbe non essere corretto.">
            <a:extLst>
              <a:ext uri="{FF2B5EF4-FFF2-40B4-BE49-F238E27FC236}">
                <a16:creationId xmlns:a16="http://schemas.microsoft.com/office/drawing/2014/main" id="{0C332219-AC22-FFCC-6468-CC3D28E9622A}"/>
              </a:ext>
            </a:extLst>
          </p:cNvPr>
          <p:cNvPicPr>
            <a:picLocks noChangeAspect="1"/>
          </p:cNvPicPr>
          <p:nvPr/>
        </p:nvPicPr>
        <p:blipFill>
          <a:blip r:embed="rId2">
            <a:extLst>
              <a:ext uri="{28A0092B-C50C-407E-A947-70E740481C1C}">
                <a14:useLocalDpi xmlns:a14="http://schemas.microsoft.com/office/drawing/2010/main" val="0"/>
              </a:ext>
            </a:extLst>
          </a:blip>
          <a:srcRect r="59259"/>
          <a:stretch/>
        </p:blipFill>
        <p:spPr>
          <a:xfrm>
            <a:off x="2221090" y="1892262"/>
            <a:ext cx="1182511" cy="1068760"/>
          </a:xfrm>
          <a:prstGeom prst="rect">
            <a:avLst/>
          </a:prstGeom>
        </p:spPr>
      </p:pic>
      <p:pic>
        <p:nvPicPr>
          <p:cNvPr id="5" name="Immagine 4" descr="Immagine che contiene testo, Carattere, logo, Elementi grafici&#10;&#10;Il contenuto generato dall'IA potrebbe non essere corretto.">
            <a:extLst>
              <a:ext uri="{FF2B5EF4-FFF2-40B4-BE49-F238E27FC236}">
                <a16:creationId xmlns:a16="http://schemas.microsoft.com/office/drawing/2014/main" id="{F55ACC1E-7170-19EB-8733-091900ED7FC5}"/>
              </a:ext>
            </a:extLst>
          </p:cNvPr>
          <p:cNvPicPr>
            <a:picLocks noChangeAspect="1"/>
          </p:cNvPicPr>
          <p:nvPr/>
        </p:nvPicPr>
        <p:blipFill>
          <a:blip r:embed="rId2">
            <a:extLst>
              <a:ext uri="{28A0092B-C50C-407E-A947-70E740481C1C}">
                <a14:useLocalDpi xmlns:a14="http://schemas.microsoft.com/office/drawing/2010/main" val="0"/>
              </a:ext>
            </a:extLst>
          </a:blip>
          <a:srcRect l="40094" t="13166" r="9302" b="32206"/>
          <a:stretch/>
        </p:blipFill>
        <p:spPr>
          <a:xfrm>
            <a:off x="4254500" y="468968"/>
            <a:ext cx="1261376" cy="501400"/>
          </a:xfrm>
          <a:prstGeom prst="rect">
            <a:avLst/>
          </a:prstGeom>
        </p:spPr>
      </p:pic>
      <p:pic>
        <p:nvPicPr>
          <p:cNvPr id="2050" name="Picture 2" descr="The overall structure of the BERT model.">
            <a:extLst>
              <a:ext uri="{FF2B5EF4-FFF2-40B4-BE49-F238E27FC236}">
                <a16:creationId xmlns:a16="http://schemas.microsoft.com/office/drawing/2014/main" id="{923EFCA3-C61F-CD5F-62E7-7BEB862803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8700" y="1111250"/>
            <a:ext cx="2025724" cy="1850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0562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35EDC-E4D7-0B25-A5E3-6727535D2E3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2BBFD75-9D11-FC93-C4E8-73206E3F293F}"/>
              </a:ext>
            </a:extLst>
          </p:cNvPr>
          <p:cNvSpPr>
            <a:spLocks noGrp="1"/>
          </p:cNvSpPr>
          <p:nvPr>
            <p:ph type="title"/>
          </p:nvPr>
        </p:nvSpPr>
        <p:spPr>
          <a:xfrm>
            <a:off x="131306" y="35542"/>
            <a:ext cx="4561840" cy="261610"/>
          </a:xfrm>
        </p:spPr>
        <p:txBody>
          <a:bodyPr/>
          <a:lstStyle/>
          <a:p>
            <a:r>
              <a:rPr lang="en-US" noProof="0" dirty="0"/>
              <a:t>Defining the model structure </a:t>
            </a:r>
          </a:p>
        </p:txBody>
      </p:sp>
      <p:sp>
        <p:nvSpPr>
          <p:cNvPr id="6" name="CasellaDiTesto 5">
            <a:extLst>
              <a:ext uri="{FF2B5EF4-FFF2-40B4-BE49-F238E27FC236}">
                <a16:creationId xmlns:a16="http://schemas.microsoft.com/office/drawing/2014/main" id="{BB5FDFF2-82D3-E0D4-D39D-DB2098C4565E}"/>
              </a:ext>
            </a:extLst>
          </p:cNvPr>
          <p:cNvSpPr txBox="1"/>
          <p:nvPr/>
        </p:nvSpPr>
        <p:spPr>
          <a:xfrm>
            <a:off x="147781" y="471528"/>
            <a:ext cx="4842682" cy="1384995"/>
          </a:xfrm>
          <a:prstGeom prst="rect">
            <a:avLst/>
          </a:prstGeom>
          <a:noFill/>
        </p:spPr>
        <p:txBody>
          <a:bodyPr wrap="square">
            <a:spAutoFit/>
          </a:bodyPr>
          <a:lstStyle/>
          <a:p>
            <a:pPr algn="l"/>
            <a:r>
              <a:rPr lang="en-US" sz="1050" b="0" i="0" noProof="0" dirty="0">
                <a:solidFill>
                  <a:schemeClr val="tx1"/>
                </a:solidFill>
                <a:effectLst/>
                <a:latin typeface="Inter"/>
              </a:rPr>
              <a:t>BERT does not process raw text autonomously; the text must be preprocessed and encoded beforehand. </a:t>
            </a:r>
          </a:p>
          <a:p>
            <a:pPr algn="l"/>
            <a:r>
              <a:rPr lang="en-US" sz="1050" b="0" i="0" noProof="0" dirty="0">
                <a:solidFill>
                  <a:schemeClr val="tx1"/>
                </a:solidFill>
                <a:effectLst/>
                <a:latin typeface="Inter"/>
              </a:rPr>
              <a:t>The preprocessing involves several steps, such as cleaning the data, tokenizing it</a:t>
            </a:r>
            <a:r>
              <a:rPr lang="en-US" sz="1050" noProof="0" dirty="0">
                <a:solidFill>
                  <a:schemeClr val="tx1"/>
                </a:solidFill>
                <a:latin typeface="Inter"/>
              </a:rPr>
              <a:t> add the padding or truncate it.</a:t>
            </a:r>
            <a:endParaRPr lang="en-US" sz="1050" b="0" i="0" noProof="0" dirty="0">
              <a:solidFill>
                <a:schemeClr val="tx1"/>
              </a:solidFill>
              <a:effectLst/>
              <a:latin typeface="Inter"/>
            </a:endParaRPr>
          </a:p>
          <a:p>
            <a:pPr algn="l"/>
            <a:r>
              <a:rPr lang="en-US" sz="1050" b="0" i="0" noProof="0" dirty="0">
                <a:solidFill>
                  <a:schemeClr val="tx1"/>
                </a:solidFill>
                <a:effectLst/>
                <a:latin typeface="Inter"/>
              </a:rPr>
              <a:t>The encoder uses the preprocessed data to generate a tensor from the tokens. These tokens are then passed to BERT, which processes them and produces a cumulative, contextually significant embedding for the entire sentence. This embedding is subsequently used for classification within the neural network.</a:t>
            </a:r>
          </a:p>
        </p:txBody>
      </p:sp>
      <p:pic>
        <p:nvPicPr>
          <p:cNvPr id="7" name="Immagine 6" descr="Immagine che contiene testo, diagramma, schermata, linea&#10;&#10;Il contenuto generato dall'IA potrebbe non essere corretto.">
            <a:extLst>
              <a:ext uri="{FF2B5EF4-FFF2-40B4-BE49-F238E27FC236}">
                <a16:creationId xmlns:a16="http://schemas.microsoft.com/office/drawing/2014/main" id="{14D9CE33-5F4A-56C4-8132-79256255452D}"/>
              </a:ext>
            </a:extLst>
          </p:cNvPr>
          <p:cNvPicPr>
            <a:picLocks noChangeAspect="1"/>
          </p:cNvPicPr>
          <p:nvPr/>
        </p:nvPicPr>
        <p:blipFill>
          <a:blip r:embed="rId2">
            <a:extLst>
              <a:ext uri="{28A0092B-C50C-407E-A947-70E740481C1C}">
                <a14:useLocalDpi xmlns:a14="http://schemas.microsoft.com/office/drawing/2010/main" val="0"/>
              </a:ext>
            </a:extLst>
          </a:blip>
          <a:srcRect r="17380" b="34766"/>
          <a:stretch/>
        </p:blipFill>
        <p:spPr>
          <a:xfrm>
            <a:off x="1378342" y="2080681"/>
            <a:ext cx="1600200" cy="848430"/>
          </a:xfrm>
          <a:prstGeom prst="rect">
            <a:avLst/>
          </a:prstGeom>
        </p:spPr>
      </p:pic>
      <p:pic>
        <p:nvPicPr>
          <p:cNvPr id="24" name="Immagine 23">
            <a:extLst>
              <a:ext uri="{FF2B5EF4-FFF2-40B4-BE49-F238E27FC236}">
                <a16:creationId xmlns:a16="http://schemas.microsoft.com/office/drawing/2014/main" id="{FABC0E21-27D9-4199-6000-2F7CC16A3F3D}"/>
              </a:ext>
            </a:extLst>
          </p:cNvPr>
          <p:cNvPicPr>
            <a:picLocks noChangeAspect="1"/>
          </p:cNvPicPr>
          <p:nvPr/>
        </p:nvPicPr>
        <p:blipFill>
          <a:blip r:embed="rId3"/>
          <a:srcRect t="-1698"/>
          <a:stretch/>
        </p:blipFill>
        <p:spPr>
          <a:xfrm>
            <a:off x="3766716" y="1927225"/>
            <a:ext cx="2011784" cy="2267373"/>
          </a:xfrm>
          <a:prstGeom prst="rect">
            <a:avLst/>
          </a:prstGeom>
        </p:spPr>
      </p:pic>
      <p:sp>
        <p:nvSpPr>
          <p:cNvPr id="25" name="Rettangolo 24">
            <a:extLst>
              <a:ext uri="{FF2B5EF4-FFF2-40B4-BE49-F238E27FC236}">
                <a16:creationId xmlns:a16="http://schemas.microsoft.com/office/drawing/2014/main" id="{A8139111-7788-F083-3CFA-5C7A81E3F1EA}"/>
              </a:ext>
            </a:extLst>
          </p:cNvPr>
          <p:cNvSpPr/>
          <p:nvPr/>
        </p:nvSpPr>
        <p:spPr>
          <a:xfrm>
            <a:off x="3644900" y="1927225"/>
            <a:ext cx="457200" cy="781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ttangolo con angoli arrotondati 7">
            <a:extLst>
              <a:ext uri="{FF2B5EF4-FFF2-40B4-BE49-F238E27FC236}">
                <a16:creationId xmlns:a16="http://schemas.microsoft.com/office/drawing/2014/main" id="{ADDF28B0-389F-CD13-4F93-427855371019}"/>
              </a:ext>
            </a:extLst>
          </p:cNvPr>
          <p:cNvSpPr/>
          <p:nvPr/>
        </p:nvSpPr>
        <p:spPr>
          <a:xfrm>
            <a:off x="4010608" y="1843709"/>
            <a:ext cx="1524000" cy="167032"/>
          </a:xfrm>
          <a:prstGeom prst="roundRect">
            <a:avLst/>
          </a:prstGeom>
          <a:solidFill>
            <a:srgbClr val="E7F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noProof="0" dirty="0">
                <a:solidFill>
                  <a:schemeClr val="tx1"/>
                </a:solidFill>
              </a:rPr>
              <a:t>Sentiment classification</a:t>
            </a:r>
          </a:p>
        </p:txBody>
      </p:sp>
      <p:sp>
        <p:nvSpPr>
          <p:cNvPr id="9" name="Freccia destra 8">
            <a:extLst>
              <a:ext uri="{FF2B5EF4-FFF2-40B4-BE49-F238E27FC236}">
                <a16:creationId xmlns:a16="http://schemas.microsoft.com/office/drawing/2014/main" id="{E0437A40-F049-1B55-77CE-628596C2AE8B}"/>
              </a:ext>
            </a:extLst>
          </p:cNvPr>
          <p:cNvSpPr/>
          <p:nvPr/>
        </p:nvSpPr>
        <p:spPr>
          <a:xfrm>
            <a:off x="3187700" y="2308225"/>
            <a:ext cx="609600" cy="304800"/>
          </a:xfrm>
          <a:prstGeom prst="rightArrow">
            <a:avLst/>
          </a:prstGeom>
          <a:solidFill>
            <a:srgbClr val="F4F4F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rgbClr val="DBDBDB"/>
              </a:solidFill>
            </a:endParaRPr>
          </a:p>
        </p:txBody>
      </p:sp>
    </p:spTree>
    <p:extLst>
      <p:ext uri="{BB962C8B-B14F-4D97-AF65-F5344CB8AC3E}">
        <p14:creationId xmlns:p14="http://schemas.microsoft.com/office/powerpoint/2010/main" val="24824860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A59D7-6818-6292-73AC-22A55BEC2C5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35008F9-1873-8FF9-022D-2E1DB19E928D}"/>
              </a:ext>
            </a:extLst>
          </p:cNvPr>
          <p:cNvSpPr>
            <a:spLocks noGrp="1"/>
          </p:cNvSpPr>
          <p:nvPr>
            <p:ph type="title"/>
          </p:nvPr>
        </p:nvSpPr>
        <p:spPr>
          <a:xfrm>
            <a:off x="131306" y="35542"/>
            <a:ext cx="4561840" cy="261610"/>
          </a:xfrm>
        </p:spPr>
        <p:txBody>
          <a:bodyPr/>
          <a:lstStyle/>
          <a:p>
            <a:r>
              <a:rPr lang="en-US" noProof="0" dirty="0"/>
              <a:t>Fine Tuning </a:t>
            </a:r>
          </a:p>
        </p:txBody>
      </p:sp>
      <p:sp>
        <p:nvSpPr>
          <p:cNvPr id="6" name="CasellaDiTesto 5">
            <a:extLst>
              <a:ext uri="{FF2B5EF4-FFF2-40B4-BE49-F238E27FC236}">
                <a16:creationId xmlns:a16="http://schemas.microsoft.com/office/drawing/2014/main" id="{D60646F9-8A49-2E0C-BDCC-1EE0D11ADD92}"/>
              </a:ext>
            </a:extLst>
          </p:cNvPr>
          <p:cNvSpPr txBox="1"/>
          <p:nvPr/>
        </p:nvSpPr>
        <p:spPr>
          <a:xfrm>
            <a:off x="131306" y="454124"/>
            <a:ext cx="3578583" cy="2616101"/>
          </a:xfrm>
          <a:prstGeom prst="rect">
            <a:avLst/>
          </a:prstGeom>
          <a:noFill/>
        </p:spPr>
        <p:txBody>
          <a:bodyPr wrap="square">
            <a:spAutoFit/>
          </a:bodyPr>
          <a:lstStyle/>
          <a:p>
            <a:pPr algn="l"/>
            <a:r>
              <a:rPr lang="en-US" sz="1000" i="0" dirty="0">
                <a:solidFill>
                  <a:schemeClr val="tx1"/>
                </a:solidFill>
                <a:effectLst/>
                <a:latin typeface="Inter"/>
              </a:rPr>
              <a:t>Fine-tuning the model is a computationally intensive process. Training the model for just 5 epochs takes a significant amount of time. During fine-tuning, the following configurations were applied:</a:t>
            </a:r>
          </a:p>
          <a:p>
            <a:pPr marL="210185" marR="30480" lvl="0" indent="-197485" algn="l" defTabSz="914400" eaLnBrk="1" fontAlgn="auto" latinLnBrk="0" hangingPunct="1">
              <a:lnSpc>
                <a:spcPct val="100000"/>
              </a:lnSpc>
              <a:spcBef>
                <a:spcPts val="95"/>
              </a:spcBef>
              <a:spcAft>
                <a:spcPts val="0"/>
              </a:spcAft>
              <a:buClr>
                <a:srgbClr val="3F78D2"/>
              </a:buClr>
              <a:buSzPct val="104166"/>
              <a:buFont typeface="Lucida Sans Unicode"/>
              <a:buChar char="►"/>
              <a:tabLst>
                <a:tab pos="210185" algn="l"/>
              </a:tabLst>
              <a:defRPr/>
            </a:pPr>
            <a:r>
              <a:rPr kumimoji="0" lang="en-US" sz="1000" i="0" u="none" strike="noStrike" kern="0" cap="none" spc="0" normalizeH="0" baseline="0" noProof="0" dirty="0">
                <a:ln>
                  <a:noFill/>
                </a:ln>
                <a:solidFill>
                  <a:schemeClr val="tx1"/>
                </a:solidFill>
                <a:effectLst/>
                <a:uLnTx/>
                <a:uFillTx/>
                <a:latin typeface="Inter"/>
              </a:rPr>
              <a:t>A</a:t>
            </a:r>
            <a:r>
              <a:rPr kumimoji="0" lang="en-US" sz="1000" i="0" u="none" strike="noStrike" kern="0" cap="none" spc="0" normalizeH="0" baseline="0" noProof="0" dirty="0">
                <a:ln>
                  <a:noFill/>
                </a:ln>
                <a:solidFill>
                  <a:srgbClr val="404040"/>
                </a:solidFill>
                <a:effectLst/>
                <a:uLnTx/>
                <a:uFillTx/>
                <a:latin typeface="Inter"/>
              </a:rPr>
              <a:t> </a:t>
            </a:r>
            <a:r>
              <a:rPr kumimoji="0" lang="en-US" sz="1000" i="0" u="none" strike="noStrike" kern="0" cap="none" spc="0" normalizeH="0" baseline="0" noProof="0" dirty="0">
                <a:ln>
                  <a:noFill/>
                </a:ln>
                <a:solidFill>
                  <a:srgbClr val="3F78D3"/>
                </a:solidFill>
                <a:effectLst/>
                <a:uLnTx/>
                <a:uFillTx/>
                <a:latin typeface="Inter"/>
              </a:rPr>
              <a:t>starting learning rate </a:t>
            </a:r>
            <a:r>
              <a:rPr kumimoji="0" lang="en-US" sz="1000" i="0" u="none" strike="noStrike" kern="0" cap="none" spc="0" normalizeH="0" baseline="0" noProof="0" dirty="0">
                <a:ln>
                  <a:noFill/>
                </a:ln>
                <a:solidFill>
                  <a:srgbClr val="404040"/>
                </a:solidFill>
                <a:effectLst/>
                <a:uLnTx/>
                <a:uFillTx/>
                <a:latin typeface="Inter"/>
              </a:rPr>
              <a:t>was set to control the step size during optimization.</a:t>
            </a:r>
            <a:endParaRPr lang="en-US" sz="1000" i="0" dirty="0">
              <a:solidFill>
                <a:srgbClr val="404040"/>
              </a:solidFill>
              <a:effectLst/>
              <a:latin typeface="Inter"/>
            </a:endParaRPr>
          </a:p>
          <a:p>
            <a:pPr marL="210185" marR="30480" indent="-197485" algn="l">
              <a:spcBef>
                <a:spcPts val="95"/>
              </a:spcBef>
              <a:buClr>
                <a:srgbClr val="3F78D2"/>
              </a:buClr>
              <a:buSzPct val="104166"/>
              <a:buFont typeface="Lucida Sans Unicode"/>
              <a:buChar char="►"/>
              <a:tabLst>
                <a:tab pos="210185" algn="l"/>
              </a:tabLst>
            </a:pPr>
            <a:r>
              <a:rPr lang="en-US" sz="1000" dirty="0">
                <a:solidFill>
                  <a:schemeClr val="tx1"/>
                </a:solidFill>
              </a:rPr>
              <a:t>An </a:t>
            </a:r>
            <a:r>
              <a:rPr lang="en-US" sz="1000" dirty="0">
                <a:solidFill>
                  <a:srgbClr val="3F78D3"/>
                </a:solidFill>
              </a:rPr>
              <a:t>early stopping </a:t>
            </a:r>
            <a:r>
              <a:rPr lang="en-US" sz="1000" dirty="0">
                <a:solidFill>
                  <a:schemeClr val="tx1"/>
                </a:solidFill>
              </a:rPr>
              <a:t>algorithm was implemented to prevent overfitting by monitoring validation performance and stopping training if no improvement is observed.</a:t>
            </a:r>
          </a:p>
          <a:p>
            <a:pPr marL="210185" marR="30480" indent="-197485" algn="l">
              <a:spcBef>
                <a:spcPts val="95"/>
              </a:spcBef>
              <a:buClr>
                <a:srgbClr val="3F78D2"/>
              </a:buClr>
              <a:buSzPct val="104166"/>
              <a:buFont typeface="Lucida Sans Unicode"/>
              <a:buChar char="►"/>
              <a:tabLst>
                <a:tab pos="210185" algn="l"/>
              </a:tabLst>
            </a:pPr>
            <a:r>
              <a:rPr lang="en-US" sz="1000" dirty="0">
                <a:solidFill>
                  <a:schemeClr val="tx1"/>
                </a:solidFill>
              </a:rPr>
              <a:t>The </a:t>
            </a:r>
            <a:r>
              <a:rPr lang="en-US" sz="1000" dirty="0" err="1">
                <a:solidFill>
                  <a:srgbClr val="3F78D3"/>
                </a:solidFill>
              </a:rPr>
              <a:t>AdamW</a:t>
            </a:r>
            <a:r>
              <a:rPr lang="en-US" sz="1000" dirty="0">
                <a:solidFill>
                  <a:srgbClr val="3F78D3"/>
                </a:solidFill>
              </a:rPr>
              <a:t> </a:t>
            </a:r>
            <a:r>
              <a:rPr lang="en-US" sz="1000" dirty="0">
                <a:solidFill>
                  <a:schemeClr val="tx1"/>
                </a:solidFill>
              </a:rPr>
              <a:t>optimizer that consent to use a mobile exponential average to efficiently update the model's weights while incorporating weight decay for regularization</a:t>
            </a:r>
            <a:r>
              <a:rPr lang="en-US" sz="1000" i="0" dirty="0">
                <a:solidFill>
                  <a:schemeClr val="tx1"/>
                </a:solidFill>
                <a:effectLst/>
                <a:latin typeface="Inter"/>
              </a:rPr>
              <a:t>.</a:t>
            </a:r>
            <a:endParaRPr lang="en-US" sz="1000" b="0" i="0" dirty="0">
              <a:solidFill>
                <a:schemeClr val="tx1"/>
              </a:solidFill>
              <a:effectLst/>
              <a:latin typeface="Inter"/>
            </a:endParaRPr>
          </a:p>
          <a:p>
            <a:pPr algn="l"/>
            <a:r>
              <a:rPr lang="en-US" sz="1050" b="0" i="0" dirty="0">
                <a:solidFill>
                  <a:srgbClr val="404040"/>
                </a:solidFill>
                <a:effectLst/>
                <a:latin typeface="Inter"/>
              </a:rPr>
              <a:t>This setup ensures that the model is fine-tuned effectively while managing computational resources and avoiding overfitting.</a:t>
            </a:r>
          </a:p>
        </p:txBody>
      </p:sp>
      <p:pic>
        <p:nvPicPr>
          <p:cNvPr id="37" name="Immagine 36">
            <a:extLst>
              <a:ext uri="{FF2B5EF4-FFF2-40B4-BE49-F238E27FC236}">
                <a16:creationId xmlns:a16="http://schemas.microsoft.com/office/drawing/2014/main" id="{C136C0C2-BCBB-19F2-4D6E-A3628F1A58C0}"/>
              </a:ext>
            </a:extLst>
          </p:cNvPr>
          <p:cNvPicPr>
            <a:picLocks noChangeAspect="1"/>
          </p:cNvPicPr>
          <p:nvPr/>
        </p:nvPicPr>
        <p:blipFill>
          <a:blip r:embed="rId2"/>
          <a:srcRect r="8899"/>
          <a:stretch/>
        </p:blipFill>
        <p:spPr>
          <a:xfrm>
            <a:off x="3724898" y="2079625"/>
            <a:ext cx="1981200" cy="936020"/>
          </a:xfrm>
          <a:prstGeom prst="rect">
            <a:avLst/>
          </a:prstGeom>
        </p:spPr>
      </p:pic>
      <p:pic>
        <p:nvPicPr>
          <p:cNvPr id="4098" name="Picture 2" descr="Comparison of Adam to Other Optimization Algorithms Training a Multilayer Perceptron">
            <a:extLst>
              <a:ext uri="{FF2B5EF4-FFF2-40B4-BE49-F238E27FC236}">
                <a16:creationId xmlns:a16="http://schemas.microsoft.com/office/drawing/2014/main" id="{5991A0E5-24FB-B94E-2121-060ADB0753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5900" y="445080"/>
            <a:ext cx="1614884" cy="15665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51239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F3AE0C3-1829-BE32-A3C1-6126461DF514}"/>
              </a:ext>
            </a:extLst>
          </p:cNvPr>
          <p:cNvSpPr>
            <a:spLocks noGrp="1"/>
          </p:cNvSpPr>
          <p:nvPr>
            <p:ph type="title"/>
          </p:nvPr>
        </p:nvSpPr>
        <p:spPr>
          <a:xfrm>
            <a:off x="131306" y="35542"/>
            <a:ext cx="4561840" cy="261610"/>
          </a:xfrm>
        </p:spPr>
        <p:txBody>
          <a:bodyPr/>
          <a:lstStyle/>
          <a:p>
            <a:r>
              <a:rPr lang="en-US" dirty="0"/>
              <a:t>Metrics evaluated </a:t>
            </a:r>
          </a:p>
        </p:txBody>
      </p:sp>
      <p:sp>
        <p:nvSpPr>
          <p:cNvPr id="3" name="Segnaposto testo 2">
            <a:extLst>
              <a:ext uri="{FF2B5EF4-FFF2-40B4-BE49-F238E27FC236}">
                <a16:creationId xmlns:a16="http://schemas.microsoft.com/office/drawing/2014/main" id="{59492344-B576-980B-C515-0DD7236EE6DC}"/>
              </a:ext>
            </a:extLst>
          </p:cNvPr>
          <p:cNvSpPr>
            <a:spLocks noGrp="1"/>
          </p:cNvSpPr>
          <p:nvPr>
            <p:ph type="body" idx="1"/>
          </p:nvPr>
        </p:nvSpPr>
        <p:spPr>
          <a:xfrm>
            <a:off x="163195" y="631825"/>
            <a:ext cx="5439410" cy="184666"/>
          </a:xfrm>
        </p:spPr>
        <p:txBody>
          <a:bodyPr/>
          <a:lstStyle/>
          <a:p>
            <a:r>
              <a:rPr lang="en-US" dirty="0"/>
              <a:t>Loss on the cross entropy </a:t>
            </a:r>
          </a:p>
        </p:txBody>
      </p:sp>
      <mc:AlternateContent xmlns:mc="http://schemas.openxmlformats.org/markup-compatibility/2006" xmlns:a14="http://schemas.microsoft.com/office/drawing/2010/main">
        <mc:Choice Requires="a14">
          <p:sp>
            <p:nvSpPr>
              <p:cNvPr id="8" name="CasellaDiTesto 7">
                <a:extLst>
                  <a:ext uri="{FF2B5EF4-FFF2-40B4-BE49-F238E27FC236}">
                    <a16:creationId xmlns:a16="http://schemas.microsoft.com/office/drawing/2014/main" id="{ACFC7A75-3226-70E0-075B-E0696D6173F3}"/>
                  </a:ext>
                </a:extLst>
              </p:cNvPr>
              <p:cNvSpPr txBox="1"/>
              <p:nvPr/>
            </p:nvSpPr>
            <p:spPr>
              <a:xfrm>
                <a:off x="551114" y="938044"/>
                <a:ext cx="202698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n-US" sz="1200" dirty="0" smtClean="0"/>
                        <m:t>=−(</m:t>
                      </m:r>
                      <m:r>
                        <m:rPr>
                          <m:nor/>
                        </m:rPr>
                        <a:rPr lang="en-US" sz="1200" dirty="0" smtClean="0"/>
                        <m:t>y</m:t>
                      </m:r>
                      <m:r>
                        <m:rPr>
                          <m:nor/>
                        </m:rPr>
                        <a:rPr lang="en-US" sz="1200" dirty="0" smtClean="0"/>
                        <m:t>⋅</m:t>
                      </m:r>
                      <m:r>
                        <m:rPr>
                          <m:nor/>
                        </m:rPr>
                        <a:rPr lang="en-US" sz="1200" dirty="0" smtClean="0"/>
                        <m:t>log</m:t>
                      </m:r>
                      <m:r>
                        <m:rPr>
                          <m:nor/>
                        </m:rPr>
                        <a:rPr lang="en-US" sz="1200" dirty="0" smtClean="0"/>
                        <m:t>(</m:t>
                      </m:r>
                      <m:r>
                        <m:rPr>
                          <m:nor/>
                        </m:rPr>
                        <a:rPr lang="en-US" sz="1200" dirty="0" smtClean="0"/>
                        <m:t>p</m:t>
                      </m:r>
                      <m:r>
                        <m:rPr>
                          <m:nor/>
                        </m:rPr>
                        <a:rPr lang="en-US" sz="1200" dirty="0" smtClean="0"/>
                        <m:t>)+(1−</m:t>
                      </m:r>
                      <m:r>
                        <m:rPr>
                          <m:nor/>
                        </m:rPr>
                        <a:rPr lang="en-US" sz="1200" dirty="0" smtClean="0"/>
                        <m:t>y</m:t>
                      </m:r>
                      <m:r>
                        <m:rPr>
                          <m:nor/>
                        </m:rPr>
                        <a:rPr lang="en-US" sz="1200" dirty="0" smtClean="0"/>
                        <m:t>)⋅</m:t>
                      </m:r>
                      <m:r>
                        <m:rPr>
                          <m:nor/>
                        </m:rPr>
                        <a:rPr lang="en-US" sz="1200" dirty="0" smtClean="0"/>
                        <m:t>log</m:t>
                      </m:r>
                      <m:r>
                        <m:rPr>
                          <m:nor/>
                        </m:rPr>
                        <a:rPr lang="en-US" sz="1200" dirty="0" smtClean="0"/>
                        <m:t>(1−</m:t>
                      </m:r>
                      <m:r>
                        <m:rPr>
                          <m:nor/>
                        </m:rPr>
                        <a:rPr lang="en-US" sz="1200" dirty="0" smtClean="0"/>
                        <m:t>p</m:t>
                      </m:r>
                      <m:r>
                        <m:rPr>
                          <m:nor/>
                        </m:rPr>
                        <a:rPr lang="en-US" sz="1200" dirty="0" smtClean="0"/>
                        <m:t>))</m:t>
                      </m:r>
                    </m:oMath>
                  </m:oMathPara>
                </a14:m>
                <a:endParaRPr lang="en-US" sz="1200" dirty="0"/>
              </a:p>
              <a:p>
                <a:endParaRPr lang="en-US" sz="1200" dirty="0"/>
              </a:p>
            </p:txBody>
          </p:sp>
        </mc:Choice>
        <mc:Fallback xmlns="">
          <p:sp>
            <p:nvSpPr>
              <p:cNvPr id="8" name="CasellaDiTesto 7">
                <a:extLst>
                  <a:ext uri="{FF2B5EF4-FFF2-40B4-BE49-F238E27FC236}">
                    <a16:creationId xmlns:a16="http://schemas.microsoft.com/office/drawing/2014/main" id="{ACFC7A75-3226-70E0-075B-E0696D6173F3}"/>
                  </a:ext>
                </a:extLst>
              </p:cNvPr>
              <p:cNvSpPr txBox="1">
                <a:spLocks noRot="1" noChangeAspect="1" noMove="1" noResize="1" noEditPoints="1" noAdjustHandles="1" noChangeArrowheads="1" noChangeShapeType="1" noTextEdit="1"/>
              </p:cNvSpPr>
              <p:nvPr/>
            </p:nvSpPr>
            <p:spPr>
              <a:xfrm>
                <a:off x="551114" y="938044"/>
                <a:ext cx="2026986" cy="46166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CasellaDiTesto 8">
                <a:extLst>
                  <a:ext uri="{FF2B5EF4-FFF2-40B4-BE49-F238E27FC236}">
                    <a16:creationId xmlns:a16="http://schemas.microsoft.com/office/drawing/2014/main" id="{D30C60DC-D5DC-938A-160F-CF573D8CADDD}"/>
                  </a:ext>
                </a:extLst>
              </p:cNvPr>
              <p:cNvSpPr txBox="1"/>
              <p:nvPr/>
            </p:nvSpPr>
            <p:spPr>
              <a:xfrm>
                <a:off x="447271" y="939456"/>
                <a:ext cx="20768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ℒ</m:t>
                      </m:r>
                    </m:oMath>
                  </m:oMathPara>
                </a14:m>
                <a:endParaRPr lang="en-US" dirty="0"/>
              </a:p>
            </p:txBody>
          </p:sp>
        </mc:Choice>
        <mc:Fallback xmlns="">
          <p:sp>
            <p:nvSpPr>
              <p:cNvPr id="9" name="CasellaDiTesto 8">
                <a:extLst>
                  <a:ext uri="{FF2B5EF4-FFF2-40B4-BE49-F238E27FC236}">
                    <a16:creationId xmlns:a16="http://schemas.microsoft.com/office/drawing/2014/main" id="{D30C60DC-D5DC-938A-160F-CF573D8CADDD}"/>
                  </a:ext>
                </a:extLst>
              </p:cNvPr>
              <p:cNvSpPr txBox="1">
                <a:spLocks noRot="1" noChangeAspect="1" noMove="1" noResize="1" noEditPoints="1" noAdjustHandles="1" noChangeArrowheads="1" noChangeShapeType="1" noTextEdit="1"/>
              </p:cNvSpPr>
              <p:nvPr/>
            </p:nvSpPr>
            <p:spPr>
              <a:xfrm>
                <a:off x="447271" y="939456"/>
                <a:ext cx="207685" cy="276999"/>
              </a:xfrm>
              <a:prstGeom prst="rect">
                <a:avLst/>
              </a:prstGeom>
              <a:blipFill>
                <a:blip r:embed="rId3"/>
                <a:stretch>
                  <a:fillRect l="-23529" r="-17647" b="-13043"/>
                </a:stretch>
              </a:blipFill>
            </p:spPr>
            <p:txBody>
              <a:bodyPr/>
              <a:lstStyle/>
              <a:p>
                <a:r>
                  <a:rPr lang="en-US">
                    <a:noFill/>
                  </a:rPr>
                  <a:t> </a:t>
                </a:r>
              </a:p>
            </p:txBody>
          </p:sp>
        </mc:Fallback>
      </mc:AlternateContent>
      <p:sp>
        <p:nvSpPr>
          <p:cNvPr id="10" name="CasellaDiTesto 9">
            <a:extLst>
              <a:ext uri="{FF2B5EF4-FFF2-40B4-BE49-F238E27FC236}">
                <a16:creationId xmlns:a16="http://schemas.microsoft.com/office/drawing/2014/main" id="{381F9B22-8845-780E-E428-1AE76CC20793}"/>
              </a:ext>
            </a:extLst>
          </p:cNvPr>
          <p:cNvSpPr txBox="1"/>
          <p:nvPr/>
        </p:nvSpPr>
        <p:spPr>
          <a:xfrm>
            <a:off x="145300" y="1335455"/>
            <a:ext cx="2636589" cy="1477328"/>
          </a:xfrm>
          <a:prstGeom prst="rect">
            <a:avLst/>
          </a:prstGeom>
          <a:noFill/>
        </p:spPr>
        <p:txBody>
          <a:bodyPr wrap="square" rtlCol="0">
            <a:spAutoFit/>
          </a:bodyPr>
          <a:lstStyle/>
          <a:p>
            <a:pPr algn="l"/>
            <a:r>
              <a:rPr lang="en-US" sz="800" b="1" i="0" dirty="0">
                <a:solidFill>
                  <a:schemeClr val="tx1"/>
                </a:solidFill>
                <a:effectLst/>
                <a:latin typeface="Inter"/>
              </a:rPr>
              <a:t>Y</a:t>
            </a:r>
            <a:r>
              <a:rPr lang="en-US" sz="800" b="0" i="0" dirty="0">
                <a:solidFill>
                  <a:schemeClr val="tx1"/>
                </a:solidFill>
                <a:effectLst/>
                <a:latin typeface="Inter"/>
              </a:rPr>
              <a:t>: True label (1 = positive class, 0 = negative class).</a:t>
            </a:r>
          </a:p>
          <a:p>
            <a:pPr algn="l">
              <a:spcBef>
                <a:spcPts val="300"/>
              </a:spcBef>
            </a:pPr>
            <a:r>
              <a:rPr lang="en-US" sz="800" b="1" i="0" dirty="0">
                <a:solidFill>
                  <a:schemeClr val="tx1"/>
                </a:solidFill>
                <a:effectLst/>
                <a:latin typeface="Inter"/>
              </a:rPr>
              <a:t>p</a:t>
            </a:r>
            <a:r>
              <a:rPr lang="en-US" sz="800" b="0" i="0" dirty="0">
                <a:solidFill>
                  <a:schemeClr val="tx1"/>
                </a:solidFill>
                <a:effectLst/>
                <a:latin typeface="Inter"/>
              </a:rPr>
              <a:t>: Predicted probability of belonging to the positive class.</a:t>
            </a:r>
          </a:p>
          <a:p>
            <a:pPr algn="l">
              <a:spcBef>
                <a:spcPts val="300"/>
              </a:spcBef>
            </a:pPr>
            <a:r>
              <a:rPr lang="en-US" sz="800" b="0" i="0" dirty="0">
                <a:solidFill>
                  <a:schemeClr val="tx1"/>
                </a:solidFill>
                <a:effectLst/>
                <a:latin typeface="Inter"/>
              </a:rPr>
              <a:t>When classifying an instance as </a:t>
            </a:r>
            <a:r>
              <a:rPr lang="en-US" sz="800" b="1" i="0" dirty="0">
                <a:solidFill>
                  <a:schemeClr val="tx1"/>
                </a:solidFill>
                <a:effectLst/>
                <a:latin typeface="Inter"/>
              </a:rPr>
              <a:t>y = 1</a:t>
            </a:r>
            <a:r>
              <a:rPr lang="en-US" sz="800" b="0" i="0" dirty="0">
                <a:solidFill>
                  <a:schemeClr val="tx1"/>
                </a:solidFill>
                <a:effectLst/>
                <a:latin typeface="Inter"/>
              </a:rPr>
              <a:t>, the prediction should be penalized if it deviates significantly from 1. If </a:t>
            </a:r>
            <a:r>
              <a:rPr lang="en-US" sz="800" b="1" i="0" dirty="0">
                <a:solidFill>
                  <a:schemeClr val="tx1"/>
                </a:solidFill>
                <a:effectLst/>
                <a:latin typeface="Inter"/>
              </a:rPr>
              <a:t>p</a:t>
            </a:r>
            <a:r>
              <a:rPr lang="en-US" sz="800" b="0" i="0" dirty="0">
                <a:solidFill>
                  <a:schemeClr val="tx1"/>
                </a:solidFill>
                <a:effectLst/>
                <a:latin typeface="Inter"/>
              </a:rPr>
              <a:t> is close to 1, the logarithmic loss approaches 0, indicating a correct prediction. When </a:t>
            </a:r>
            <a:r>
              <a:rPr lang="en-US" sz="800" b="1" i="0" dirty="0">
                <a:solidFill>
                  <a:schemeClr val="tx1"/>
                </a:solidFill>
                <a:effectLst/>
                <a:latin typeface="Inter"/>
              </a:rPr>
              <a:t>p</a:t>
            </a:r>
            <a:r>
              <a:rPr lang="en-US" sz="800" b="0" i="0" dirty="0">
                <a:solidFill>
                  <a:schemeClr val="tx1"/>
                </a:solidFill>
                <a:effectLst/>
                <a:latin typeface="Inter"/>
              </a:rPr>
              <a:t> is close to 1, the loss approaches 0, indicating accurate predictions.</a:t>
            </a:r>
          </a:p>
          <a:p>
            <a:pPr algn="l">
              <a:spcBef>
                <a:spcPts val="300"/>
              </a:spcBef>
            </a:pPr>
            <a:r>
              <a:rPr lang="en-US" sz="800" b="0" i="0" dirty="0">
                <a:solidFill>
                  <a:schemeClr val="tx1"/>
                </a:solidFill>
                <a:effectLst/>
                <a:latin typeface="Inter"/>
              </a:rPr>
              <a:t>Larger deviations require greater corrections. </a:t>
            </a:r>
          </a:p>
          <a:p>
            <a:pPr algn="l">
              <a:spcBef>
                <a:spcPts val="300"/>
              </a:spcBef>
            </a:pPr>
            <a:r>
              <a:rPr lang="en-US" sz="800" b="0" i="0" dirty="0">
                <a:solidFill>
                  <a:schemeClr val="tx1"/>
                </a:solidFill>
                <a:effectLst/>
                <a:latin typeface="Inter"/>
              </a:rPr>
              <a:t>A loss near 0 means the model performs well, with no further corrections needed.</a:t>
            </a:r>
          </a:p>
        </p:txBody>
      </p:sp>
      <p:pic>
        <p:nvPicPr>
          <p:cNvPr id="11" name="Immagine 10" descr="Immagine che contiene diagramma, schizzo, disegno, linea&#10;&#10;Il contenuto generato dall'IA potrebbe non essere corretto.">
            <a:extLst>
              <a:ext uri="{FF2B5EF4-FFF2-40B4-BE49-F238E27FC236}">
                <a16:creationId xmlns:a16="http://schemas.microsoft.com/office/drawing/2014/main" id="{1964D316-5B7E-78D4-5030-46FAD89650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90282" y="502973"/>
            <a:ext cx="2072097" cy="849076"/>
          </a:xfrm>
          <a:prstGeom prst="rect">
            <a:avLst/>
          </a:prstGeom>
        </p:spPr>
      </p:pic>
      <p:pic>
        <p:nvPicPr>
          <p:cNvPr id="12" name="Immagine 11" descr="Short model get better and better&#10;">
            <a:extLst>
              <a:ext uri="{FF2B5EF4-FFF2-40B4-BE49-F238E27FC236}">
                <a16:creationId xmlns:a16="http://schemas.microsoft.com/office/drawing/2014/main" id="{D0A58EAE-7D33-D90D-3BDA-B8CF75086A00}"/>
              </a:ext>
            </a:extLst>
          </p:cNvPr>
          <p:cNvPicPr>
            <a:picLocks noChangeAspect="1"/>
          </p:cNvPicPr>
          <p:nvPr/>
        </p:nvPicPr>
        <p:blipFill>
          <a:blip r:embed="rId5">
            <a:extLst>
              <a:ext uri="{28A0092B-C50C-407E-A947-70E740481C1C}">
                <a14:useLocalDpi xmlns:a14="http://schemas.microsoft.com/office/drawing/2010/main" val="0"/>
              </a:ext>
            </a:extLst>
          </a:blip>
          <a:srcRect b="51562"/>
          <a:stretch/>
        </p:blipFill>
        <p:spPr>
          <a:xfrm>
            <a:off x="3263900" y="1557870"/>
            <a:ext cx="2420137" cy="663685"/>
          </a:xfrm>
          <a:prstGeom prst="rect">
            <a:avLst/>
          </a:prstGeom>
        </p:spPr>
      </p:pic>
    </p:spTree>
    <p:extLst>
      <p:ext uri="{BB962C8B-B14F-4D97-AF65-F5344CB8AC3E}">
        <p14:creationId xmlns:p14="http://schemas.microsoft.com/office/powerpoint/2010/main" val="27876874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2006C-76CD-D503-F943-8A3F498AD4B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A096629-BA40-EB71-C6A2-2C4611B892F9}"/>
              </a:ext>
            </a:extLst>
          </p:cNvPr>
          <p:cNvSpPr>
            <a:spLocks noGrp="1"/>
          </p:cNvSpPr>
          <p:nvPr>
            <p:ph type="title"/>
          </p:nvPr>
        </p:nvSpPr>
        <p:spPr>
          <a:xfrm>
            <a:off x="131306" y="35542"/>
            <a:ext cx="4561840" cy="261610"/>
          </a:xfrm>
        </p:spPr>
        <p:txBody>
          <a:bodyPr/>
          <a:lstStyle/>
          <a:p>
            <a:r>
              <a:rPr lang="en-US" dirty="0"/>
              <a:t>Metrics evaluated </a:t>
            </a:r>
          </a:p>
        </p:txBody>
      </p:sp>
      <p:sp>
        <p:nvSpPr>
          <p:cNvPr id="3" name="Segnaposto testo 2">
            <a:extLst>
              <a:ext uri="{FF2B5EF4-FFF2-40B4-BE49-F238E27FC236}">
                <a16:creationId xmlns:a16="http://schemas.microsoft.com/office/drawing/2014/main" id="{8029386D-4A53-BA8A-8329-E969B6F08809}"/>
              </a:ext>
            </a:extLst>
          </p:cNvPr>
          <p:cNvSpPr>
            <a:spLocks noGrp="1"/>
          </p:cNvSpPr>
          <p:nvPr>
            <p:ph type="body" idx="1"/>
          </p:nvPr>
        </p:nvSpPr>
        <p:spPr>
          <a:xfrm>
            <a:off x="163195" y="528722"/>
            <a:ext cx="5439410" cy="184666"/>
          </a:xfrm>
        </p:spPr>
        <p:txBody>
          <a:bodyPr/>
          <a:lstStyle/>
          <a:p>
            <a:r>
              <a:rPr lang="en-US" dirty="0"/>
              <a:t>Binary </a:t>
            </a:r>
            <a:r>
              <a:rPr lang="en-US" dirty="0" err="1"/>
              <a:t>accurancy</a:t>
            </a:r>
            <a:r>
              <a:rPr lang="en-US" dirty="0"/>
              <a:t> </a:t>
            </a:r>
          </a:p>
        </p:txBody>
      </p:sp>
      <p:sp>
        <p:nvSpPr>
          <p:cNvPr id="7" name="CasellaDiTesto 6">
            <a:extLst>
              <a:ext uri="{FF2B5EF4-FFF2-40B4-BE49-F238E27FC236}">
                <a16:creationId xmlns:a16="http://schemas.microsoft.com/office/drawing/2014/main" id="{4A3273BE-8C21-CA83-B46F-0C167FAE5C69}"/>
              </a:ext>
            </a:extLst>
          </p:cNvPr>
          <p:cNvSpPr txBox="1"/>
          <p:nvPr/>
        </p:nvSpPr>
        <p:spPr>
          <a:xfrm>
            <a:off x="131306" y="784830"/>
            <a:ext cx="3810000" cy="1931298"/>
          </a:xfrm>
          <a:prstGeom prst="rect">
            <a:avLst/>
          </a:prstGeom>
          <a:noFill/>
        </p:spPr>
        <p:txBody>
          <a:bodyPr wrap="square">
            <a:spAutoFit/>
          </a:bodyPr>
          <a:lstStyle/>
          <a:p>
            <a:pPr algn="l">
              <a:spcAft>
                <a:spcPts val="300"/>
              </a:spcAft>
            </a:pPr>
            <a:r>
              <a:rPr lang="it-IT" sz="1050" b="1" i="0" dirty="0" err="1">
                <a:solidFill>
                  <a:schemeClr val="tx1"/>
                </a:solidFill>
                <a:effectLst/>
                <a:latin typeface="Inter"/>
              </a:rPr>
              <a:t>Confusion</a:t>
            </a:r>
            <a:r>
              <a:rPr lang="it-IT" sz="1050" b="1" i="0" dirty="0">
                <a:solidFill>
                  <a:schemeClr val="tx1"/>
                </a:solidFill>
                <a:effectLst/>
                <a:latin typeface="Inter"/>
              </a:rPr>
              <a:t> Matrix</a:t>
            </a:r>
            <a:r>
              <a:rPr lang="it-IT" sz="1050" b="0" i="0" dirty="0">
                <a:solidFill>
                  <a:schemeClr val="tx1"/>
                </a:solidFill>
                <a:effectLst/>
                <a:latin typeface="Inter"/>
              </a:rPr>
              <a:t>:</a:t>
            </a:r>
          </a:p>
          <a:p>
            <a:pPr marL="742950" lvl="1" indent="-285750" algn="l">
              <a:spcBef>
                <a:spcPts val="300"/>
              </a:spcBef>
              <a:buFont typeface="Arial" panose="020B0604020202020204" pitchFamily="34" charset="0"/>
              <a:buChar char="•"/>
            </a:pPr>
            <a:r>
              <a:rPr lang="it-IT" sz="1050" b="0" i="0" dirty="0" err="1">
                <a:solidFill>
                  <a:schemeClr val="tx1"/>
                </a:solidFill>
                <a:effectLst/>
                <a:latin typeface="Inter"/>
              </a:rPr>
              <a:t>Columns</a:t>
            </a:r>
            <a:r>
              <a:rPr lang="it-IT" sz="1050" b="0" i="0" dirty="0">
                <a:solidFill>
                  <a:schemeClr val="tx1"/>
                </a:solidFill>
                <a:effectLst/>
                <a:latin typeface="Inter"/>
              </a:rPr>
              <a:t>: </a:t>
            </a:r>
            <a:r>
              <a:rPr lang="it-IT" sz="1050" b="0" i="0" dirty="0" err="1">
                <a:solidFill>
                  <a:schemeClr val="tx1"/>
                </a:solidFill>
                <a:effectLst/>
                <a:latin typeface="Inter"/>
              </a:rPr>
              <a:t>Predicted</a:t>
            </a:r>
            <a:r>
              <a:rPr lang="it-IT" sz="1050" b="0" i="0" dirty="0">
                <a:solidFill>
                  <a:schemeClr val="tx1"/>
                </a:solidFill>
                <a:effectLst/>
                <a:latin typeface="Inter"/>
              </a:rPr>
              <a:t> </a:t>
            </a:r>
            <a:r>
              <a:rPr lang="it-IT" sz="1050" b="0" i="0" dirty="0" err="1">
                <a:solidFill>
                  <a:schemeClr val="tx1"/>
                </a:solidFill>
                <a:effectLst/>
                <a:latin typeface="Inter"/>
              </a:rPr>
              <a:t>values</a:t>
            </a:r>
            <a:r>
              <a:rPr lang="it-IT" sz="1050" b="0" i="0" dirty="0">
                <a:solidFill>
                  <a:schemeClr val="tx1"/>
                </a:solidFill>
                <a:effectLst/>
                <a:latin typeface="Inter"/>
              </a:rPr>
              <a:t>. </a:t>
            </a:r>
            <a:r>
              <a:rPr lang="it-IT" sz="1050" b="0" i="0" dirty="0" err="1">
                <a:solidFill>
                  <a:schemeClr val="tx1"/>
                </a:solidFill>
                <a:effectLst/>
                <a:latin typeface="Inter"/>
              </a:rPr>
              <a:t>Rows</a:t>
            </a:r>
            <a:r>
              <a:rPr lang="it-IT" sz="1050" b="0" i="0" dirty="0">
                <a:solidFill>
                  <a:schemeClr val="tx1"/>
                </a:solidFill>
                <a:effectLst/>
                <a:latin typeface="Inter"/>
              </a:rPr>
              <a:t>: Real </a:t>
            </a:r>
            <a:r>
              <a:rPr lang="it-IT" sz="1050" b="0" i="0" dirty="0" err="1">
                <a:solidFill>
                  <a:schemeClr val="tx1"/>
                </a:solidFill>
                <a:effectLst/>
                <a:latin typeface="Inter"/>
              </a:rPr>
              <a:t>values</a:t>
            </a:r>
            <a:r>
              <a:rPr lang="it-IT" sz="1050" b="0" i="0" dirty="0">
                <a:solidFill>
                  <a:schemeClr val="tx1"/>
                </a:solidFill>
                <a:effectLst/>
                <a:latin typeface="Inter"/>
              </a:rPr>
              <a:t>.</a:t>
            </a:r>
          </a:p>
          <a:p>
            <a:pPr marL="742950" lvl="1" indent="-285750" algn="l">
              <a:spcBef>
                <a:spcPts val="300"/>
              </a:spcBef>
              <a:buFont typeface="Arial" panose="020B0604020202020204" pitchFamily="34" charset="0"/>
              <a:buChar char="•"/>
            </a:pPr>
            <a:r>
              <a:rPr lang="it-IT" sz="1050" b="0" i="0" dirty="0" err="1">
                <a:solidFill>
                  <a:schemeClr val="tx1"/>
                </a:solidFill>
                <a:effectLst/>
                <a:latin typeface="Inter"/>
              </a:rPr>
              <a:t>Diagonal</a:t>
            </a:r>
            <a:r>
              <a:rPr lang="it-IT" sz="1050" b="0" i="0" dirty="0">
                <a:solidFill>
                  <a:schemeClr val="tx1"/>
                </a:solidFill>
                <a:effectLst/>
                <a:latin typeface="Inter"/>
              </a:rPr>
              <a:t>: </a:t>
            </a:r>
            <a:r>
              <a:rPr lang="it-IT" sz="1050" b="0" i="0" dirty="0" err="1">
                <a:solidFill>
                  <a:schemeClr val="tx1"/>
                </a:solidFill>
                <a:effectLst/>
                <a:latin typeface="Inter"/>
              </a:rPr>
              <a:t>Correct</a:t>
            </a:r>
            <a:r>
              <a:rPr lang="it-IT" sz="1050" b="0" i="0" dirty="0">
                <a:solidFill>
                  <a:schemeClr val="tx1"/>
                </a:solidFill>
                <a:effectLst/>
                <a:latin typeface="Inter"/>
              </a:rPr>
              <a:t> </a:t>
            </a:r>
            <a:r>
              <a:rPr lang="it-IT" sz="1050" b="0" i="0" dirty="0" err="1">
                <a:solidFill>
                  <a:schemeClr val="tx1"/>
                </a:solidFill>
                <a:effectLst/>
                <a:latin typeface="Inter"/>
              </a:rPr>
              <a:t>predictions</a:t>
            </a:r>
            <a:r>
              <a:rPr lang="it-IT" sz="1050" b="0" i="0" dirty="0">
                <a:solidFill>
                  <a:schemeClr val="tx1"/>
                </a:solidFill>
                <a:effectLst/>
                <a:latin typeface="Inter"/>
              </a:rPr>
              <a:t>.</a:t>
            </a:r>
          </a:p>
          <a:p>
            <a:pPr algn="l">
              <a:spcBef>
                <a:spcPts val="300"/>
              </a:spcBef>
              <a:spcAft>
                <a:spcPts val="300"/>
              </a:spcAft>
            </a:pPr>
            <a:r>
              <a:rPr lang="it-IT" sz="1050" b="1" i="0" dirty="0" err="1">
                <a:solidFill>
                  <a:schemeClr val="tx1"/>
                </a:solidFill>
                <a:effectLst/>
                <a:latin typeface="Inter"/>
              </a:rPr>
              <a:t>Accuracy</a:t>
            </a:r>
            <a:r>
              <a:rPr lang="it-IT" sz="1050" b="0" i="0" dirty="0">
                <a:solidFill>
                  <a:schemeClr val="tx1"/>
                </a:solidFill>
                <a:effectLst/>
                <a:latin typeface="Inter"/>
              </a:rPr>
              <a:t>:</a:t>
            </a:r>
          </a:p>
          <a:p>
            <a:pPr marL="742950" lvl="1" indent="-285750" algn="l">
              <a:spcBef>
                <a:spcPts val="300"/>
              </a:spcBef>
              <a:buFont typeface="Arial" panose="020B0604020202020204" pitchFamily="34" charset="0"/>
              <a:buChar char="•"/>
            </a:pPr>
            <a:r>
              <a:rPr lang="it-IT" sz="1050" b="0" i="0" dirty="0" err="1">
                <a:solidFill>
                  <a:schemeClr val="tx1"/>
                </a:solidFill>
                <a:effectLst/>
                <a:latin typeface="Inter"/>
              </a:rPr>
              <a:t>Calculated</a:t>
            </a:r>
            <a:r>
              <a:rPr lang="it-IT" sz="1050" b="0" i="0" dirty="0">
                <a:solidFill>
                  <a:schemeClr val="tx1"/>
                </a:solidFill>
                <a:effectLst/>
                <a:latin typeface="Inter"/>
              </a:rPr>
              <a:t> </a:t>
            </a:r>
            <a:r>
              <a:rPr lang="it-IT" sz="1050" b="0" i="0" dirty="0" err="1">
                <a:solidFill>
                  <a:schemeClr val="tx1"/>
                </a:solidFill>
                <a:effectLst/>
                <a:latin typeface="Inter"/>
              </a:rPr>
              <a:t>as</a:t>
            </a:r>
            <a:r>
              <a:rPr lang="it-IT" sz="1050" b="0" i="0" dirty="0">
                <a:solidFill>
                  <a:schemeClr val="tx1"/>
                </a:solidFill>
                <a:effectLst/>
                <a:latin typeface="Inter"/>
              </a:rPr>
              <a:t>: </a:t>
            </a:r>
            <a:r>
              <a:rPr lang="it-IT" sz="1050" b="0" i="0" dirty="0" err="1">
                <a:solidFill>
                  <a:schemeClr val="tx1"/>
                </a:solidFill>
                <a:effectLst/>
                <a:latin typeface="Inter"/>
              </a:rPr>
              <a:t>Correct</a:t>
            </a:r>
            <a:r>
              <a:rPr lang="it-IT" sz="1050" b="0" i="0" dirty="0">
                <a:solidFill>
                  <a:schemeClr val="tx1"/>
                </a:solidFill>
                <a:effectLst/>
                <a:latin typeface="Inter"/>
              </a:rPr>
              <a:t> </a:t>
            </a:r>
            <a:r>
              <a:rPr lang="it-IT" sz="1050" b="0" i="0" dirty="0" err="1">
                <a:solidFill>
                  <a:schemeClr val="tx1"/>
                </a:solidFill>
                <a:effectLst/>
                <a:latin typeface="Inter"/>
              </a:rPr>
              <a:t>predictions</a:t>
            </a:r>
            <a:r>
              <a:rPr lang="it-IT" sz="1050" b="0" i="0" dirty="0">
                <a:solidFill>
                  <a:schemeClr val="tx1"/>
                </a:solidFill>
                <a:effectLst/>
                <a:latin typeface="Inter"/>
              </a:rPr>
              <a:t> / Total </a:t>
            </a:r>
            <a:r>
              <a:rPr lang="it-IT" sz="1050" b="0" i="0" dirty="0" err="1">
                <a:solidFill>
                  <a:schemeClr val="tx1"/>
                </a:solidFill>
                <a:effectLst/>
                <a:latin typeface="Inter"/>
              </a:rPr>
              <a:t>predictions</a:t>
            </a:r>
            <a:r>
              <a:rPr lang="it-IT" sz="1050" b="0" i="0" dirty="0">
                <a:solidFill>
                  <a:schemeClr val="tx1"/>
                </a:solidFill>
                <a:effectLst/>
                <a:latin typeface="Inter"/>
              </a:rPr>
              <a:t>.</a:t>
            </a:r>
          </a:p>
          <a:p>
            <a:pPr marL="742950" lvl="1" indent="-285750" algn="l">
              <a:spcBef>
                <a:spcPts val="300"/>
              </a:spcBef>
              <a:buFont typeface="Arial" panose="020B0604020202020204" pitchFamily="34" charset="0"/>
              <a:buChar char="•"/>
            </a:pPr>
            <a:r>
              <a:rPr lang="it-IT" sz="1050" b="0" i="0" dirty="0">
                <a:solidFill>
                  <a:schemeClr val="tx1"/>
                </a:solidFill>
                <a:effectLst/>
                <a:latin typeface="Inter"/>
              </a:rPr>
              <a:t>Close to 1 </a:t>
            </a:r>
            <a:r>
              <a:rPr lang="it-IT" sz="1050" b="0" i="0" dirty="0" err="1">
                <a:solidFill>
                  <a:schemeClr val="tx1"/>
                </a:solidFill>
                <a:effectLst/>
                <a:latin typeface="Inter"/>
              </a:rPr>
              <a:t>indicates</a:t>
            </a:r>
            <a:r>
              <a:rPr lang="it-IT" sz="1050" b="0" i="0" dirty="0">
                <a:solidFill>
                  <a:schemeClr val="tx1"/>
                </a:solidFill>
                <a:effectLst/>
                <a:latin typeface="Inter"/>
              </a:rPr>
              <a:t> high performance.</a:t>
            </a:r>
          </a:p>
          <a:p>
            <a:pPr algn="l">
              <a:spcBef>
                <a:spcPts val="300"/>
              </a:spcBef>
              <a:spcAft>
                <a:spcPts val="300"/>
              </a:spcAft>
            </a:pPr>
            <a:r>
              <a:rPr lang="it-IT" sz="1050" b="1" i="0" dirty="0">
                <a:solidFill>
                  <a:schemeClr val="tx1"/>
                </a:solidFill>
                <a:effectLst/>
                <a:latin typeface="Inter"/>
              </a:rPr>
              <a:t>Note</a:t>
            </a:r>
            <a:r>
              <a:rPr lang="it-IT" sz="1050" b="0" i="0" dirty="0">
                <a:solidFill>
                  <a:schemeClr val="tx1"/>
                </a:solidFill>
                <a:effectLst/>
                <a:latin typeface="Inter"/>
              </a:rPr>
              <a:t>:</a:t>
            </a:r>
          </a:p>
          <a:p>
            <a:pPr marL="742950" lvl="1" indent="-285750" algn="l">
              <a:spcBef>
                <a:spcPts val="300"/>
              </a:spcBef>
              <a:buFont typeface="Arial" panose="020B0604020202020204" pitchFamily="34" charset="0"/>
              <a:buChar char="•"/>
            </a:pPr>
            <a:r>
              <a:rPr lang="it-IT" sz="1050" b="0" i="0" dirty="0" err="1">
                <a:solidFill>
                  <a:schemeClr val="tx1"/>
                </a:solidFill>
                <a:effectLst/>
                <a:latin typeface="Inter"/>
              </a:rPr>
              <a:t>Accuracy</a:t>
            </a:r>
            <a:r>
              <a:rPr lang="it-IT" sz="1050" b="0" i="0" dirty="0">
                <a:solidFill>
                  <a:schemeClr val="tx1"/>
                </a:solidFill>
                <a:effectLst/>
                <a:latin typeface="Inter"/>
              </a:rPr>
              <a:t> </a:t>
            </a:r>
            <a:r>
              <a:rPr lang="it-IT" sz="1050" b="0" i="0" dirty="0" err="1">
                <a:solidFill>
                  <a:schemeClr val="tx1"/>
                </a:solidFill>
                <a:effectLst/>
                <a:latin typeface="Inter"/>
              </a:rPr>
              <a:t>is</a:t>
            </a:r>
            <a:r>
              <a:rPr lang="it-IT" sz="1050" b="0" i="0" dirty="0">
                <a:solidFill>
                  <a:schemeClr val="tx1"/>
                </a:solidFill>
                <a:effectLst/>
                <a:latin typeface="Inter"/>
              </a:rPr>
              <a:t> </a:t>
            </a:r>
            <a:r>
              <a:rPr lang="it-IT" sz="1050" b="0" i="0" dirty="0" err="1">
                <a:solidFill>
                  <a:schemeClr val="tx1"/>
                </a:solidFill>
                <a:effectLst/>
                <a:latin typeface="Inter"/>
              </a:rPr>
              <a:t>meaningful</a:t>
            </a:r>
            <a:r>
              <a:rPr lang="it-IT" sz="1050" b="0" i="0" dirty="0">
                <a:solidFill>
                  <a:schemeClr val="tx1"/>
                </a:solidFill>
                <a:effectLst/>
                <a:latin typeface="Inter"/>
              </a:rPr>
              <a:t> </a:t>
            </a:r>
            <a:r>
              <a:rPr lang="it-IT" sz="1050" b="0" i="0" dirty="0" err="1">
                <a:solidFill>
                  <a:schemeClr val="tx1"/>
                </a:solidFill>
                <a:effectLst/>
                <a:latin typeface="Inter"/>
              </a:rPr>
              <a:t>only</a:t>
            </a:r>
            <a:r>
              <a:rPr lang="it-IT" sz="1050" b="0" i="0" dirty="0">
                <a:solidFill>
                  <a:schemeClr val="tx1"/>
                </a:solidFill>
                <a:effectLst/>
                <a:latin typeface="Inter"/>
              </a:rPr>
              <a:t> </a:t>
            </a:r>
            <a:r>
              <a:rPr lang="it-IT" sz="1050" b="0" i="0" dirty="0" err="1">
                <a:solidFill>
                  <a:schemeClr val="tx1"/>
                </a:solidFill>
                <a:effectLst/>
                <a:latin typeface="Inter"/>
              </a:rPr>
              <a:t>when</a:t>
            </a:r>
            <a:r>
              <a:rPr lang="it-IT" sz="1050" b="0" i="0" dirty="0">
                <a:solidFill>
                  <a:schemeClr val="tx1"/>
                </a:solidFill>
                <a:effectLst/>
                <a:latin typeface="Inter"/>
              </a:rPr>
              <a:t> </a:t>
            </a:r>
            <a:r>
              <a:rPr lang="it-IT" sz="1050" b="0" i="0" dirty="0" err="1">
                <a:solidFill>
                  <a:schemeClr val="tx1"/>
                </a:solidFill>
                <a:effectLst/>
                <a:latin typeface="Inter"/>
              </a:rPr>
              <a:t>there’s</a:t>
            </a:r>
            <a:r>
              <a:rPr lang="it-IT" sz="1050" b="0" i="0" dirty="0">
                <a:solidFill>
                  <a:schemeClr val="tx1"/>
                </a:solidFill>
                <a:effectLst/>
                <a:latin typeface="Inter"/>
              </a:rPr>
              <a:t> a good balance </a:t>
            </a:r>
            <a:r>
              <a:rPr lang="it-IT" sz="1050" b="0" i="0" dirty="0" err="1">
                <a:solidFill>
                  <a:schemeClr val="tx1"/>
                </a:solidFill>
                <a:effectLst/>
                <a:latin typeface="Inter"/>
              </a:rPr>
              <a:t>between</a:t>
            </a:r>
            <a:r>
              <a:rPr lang="it-IT" sz="1050" b="0" i="0" dirty="0">
                <a:solidFill>
                  <a:schemeClr val="tx1"/>
                </a:solidFill>
                <a:effectLst/>
                <a:latin typeface="Inter"/>
              </a:rPr>
              <a:t> positive and negative </a:t>
            </a:r>
            <a:r>
              <a:rPr lang="it-IT" sz="1050" b="0" i="0" dirty="0" err="1">
                <a:solidFill>
                  <a:schemeClr val="tx1"/>
                </a:solidFill>
                <a:effectLst/>
                <a:latin typeface="Inter"/>
              </a:rPr>
              <a:t>examples</a:t>
            </a:r>
            <a:r>
              <a:rPr lang="it-IT" sz="1050" b="0" i="0" dirty="0">
                <a:solidFill>
                  <a:schemeClr val="tx1"/>
                </a:solidFill>
                <a:effectLst/>
                <a:latin typeface="Inter"/>
              </a:rPr>
              <a:t>.</a:t>
            </a:r>
          </a:p>
        </p:txBody>
      </p:sp>
      <p:pic>
        <p:nvPicPr>
          <p:cNvPr id="11" name="Immagine 10">
            <a:extLst>
              <a:ext uri="{FF2B5EF4-FFF2-40B4-BE49-F238E27FC236}">
                <a16:creationId xmlns:a16="http://schemas.microsoft.com/office/drawing/2014/main" id="{36CF9D3F-6B4A-ED23-8626-9AE368002D4B}"/>
              </a:ext>
            </a:extLst>
          </p:cNvPr>
          <p:cNvPicPr>
            <a:picLocks noChangeAspect="1"/>
          </p:cNvPicPr>
          <p:nvPr/>
        </p:nvPicPr>
        <p:blipFill>
          <a:blip r:embed="rId2"/>
          <a:srcRect r="5616"/>
          <a:stretch/>
        </p:blipFill>
        <p:spPr>
          <a:xfrm>
            <a:off x="3568700" y="457280"/>
            <a:ext cx="1953006" cy="1165145"/>
          </a:xfrm>
          <a:prstGeom prst="rect">
            <a:avLst/>
          </a:prstGeom>
        </p:spPr>
      </p:pic>
      <mc:AlternateContent xmlns:mc="http://schemas.openxmlformats.org/markup-compatibility/2006" xmlns:a14="http://schemas.microsoft.com/office/drawing/2010/main">
        <mc:Choice Requires="a14">
          <p:sp>
            <p:nvSpPr>
              <p:cNvPr id="12" name="CasellaDiTesto 11">
                <a:extLst>
                  <a:ext uri="{FF2B5EF4-FFF2-40B4-BE49-F238E27FC236}">
                    <a16:creationId xmlns:a16="http://schemas.microsoft.com/office/drawing/2014/main" id="{5011189D-6AB6-42A4-DDBC-DF4CB555CA69}"/>
                  </a:ext>
                </a:extLst>
              </p:cNvPr>
              <p:cNvSpPr txBox="1"/>
              <p:nvPr/>
            </p:nvSpPr>
            <p:spPr>
              <a:xfrm>
                <a:off x="3436106" y="1889047"/>
                <a:ext cx="2590800" cy="3150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it-IT" sz="700" b="0" i="1" dirty="0" smtClean="0">
                          <a:latin typeface="Cambria Math" panose="02040503050406030204" pitchFamily="18" charset="0"/>
                        </a:rPr>
                        <m:t>A</m:t>
                      </m:r>
                      <m:r>
                        <m:rPr>
                          <m:nor/>
                        </m:rPr>
                        <a:rPr lang="it-IT" sz="700" b="0" i="0" dirty="0" smtClean="0"/>
                        <m:t>ccurancy</m:t>
                      </m:r>
                      <m:r>
                        <m:rPr>
                          <m:nor/>
                        </m:rPr>
                        <a:rPr lang="it-IT" sz="700" b="0" i="0" dirty="0" smtClean="0"/>
                        <m:t> </m:t>
                      </m:r>
                      <m:r>
                        <m:rPr>
                          <m:nor/>
                        </m:rPr>
                        <a:rPr lang="en-US" sz="700" dirty="0" smtClean="0"/>
                        <m:t>=−</m:t>
                      </m:r>
                      <m:f>
                        <m:fPr>
                          <m:ctrlPr>
                            <a:rPr lang="en-US" sz="700" i="1" dirty="0" smtClean="0">
                              <a:latin typeface="Cambria Math" panose="02040503050406030204" pitchFamily="18" charset="0"/>
                            </a:rPr>
                          </m:ctrlPr>
                        </m:fPr>
                        <m:num>
                          <m:r>
                            <a:rPr lang="it-IT" sz="700" b="0" i="1" dirty="0" smtClean="0">
                              <a:latin typeface="Cambria Math" panose="02040503050406030204" pitchFamily="18" charset="0"/>
                            </a:rPr>
                            <m:t>𝑐𝑜𝑟𝑟𝑒𝑐𝑡</m:t>
                          </m:r>
                          <m:r>
                            <a:rPr lang="it-IT" sz="700" b="0" i="1" dirty="0" smtClean="0">
                              <a:latin typeface="Cambria Math" panose="02040503050406030204" pitchFamily="18" charset="0"/>
                            </a:rPr>
                            <m:t> </m:t>
                          </m:r>
                          <m:r>
                            <a:rPr lang="it-IT" sz="700" b="0" i="1" dirty="0" smtClean="0">
                              <a:latin typeface="Cambria Math" panose="02040503050406030204" pitchFamily="18" charset="0"/>
                            </a:rPr>
                            <m:t>𝑝𝑟𝑒𝑑𝑖𝑐𝑡𝑖𝑜𝑛𝑠</m:t>
                          </m:r>
                        </m:num>
                        <m:den>
                          <m:r>
                            <a:rPr lang="it-IT" sz="700" b="0" i="1" dirty="0" smtClean="0">
                              <a:latin typeface="Cambria Math" panose="02040503050406030204" pitchFamily="18" charset="0"/>
                            </a:rPr>
                            <m:t>𝑎𝑙𝑙</m:t>
                          </m:r>
                          <m:r>
                            <a:rPr lang="it-IT" sz="700" b="0" i="1" dirty="0" smtClean="0">
                              <a:latin typeface="Cambria Math" panose="02040503050406030204" pitchFamily="18" charset="0"/>
                            </a:rPr>
                            <m:t> </m:t>
                          </m:r>
                          <m:r>
                            <a:rPr lang="it-IT" sz="700" b="0" i="1" dirty="0" smtClean="0">
                              <a:latin typeface="Cambria Math" panose="02040503050406030204" pitchFamily="18" charset="0"/>
                            </a:rPr>
                            <m:t>𝑡h𝑒</m:t>
                          </m:r>
                          <m:r>
                            <a:rPr lang="it-IT" sz="700" b="0" i="1" dirty="0" smtClean="0">
                              <a:latin typeface="Cambria Math" panose="02040503050406030204" pitchFamily="18" charset="0"/>
                            </a:rPr>
                            <m:t> </m:t>
                          </m:r>
                          <m:r>
                            <a:rPr lang="it-IT" sz="700" b="0" i="1" dirty="0" smtClean="0">
                              <a:latin typeface="Cambria Math" panose="02040503050406030204" pitchFamily="18" charset="0"/>
                            </a:rPr>
                            <m:t>𝑝𝑟𝑒𝑑𝑖𝑐𝑡𝑖𝑜𝑛𝑠</m:t>
                          </m:r>
                        </m:den>
                      </m:f>
                    </m:oMath>
                  </m:oMathPara>
                </a14:m>
                <a:endParaRPr lang="en-US" sz="700" dirty="0"/>
              </a:p>
            </p:txBody>
          </p:sp>
        </mc:Choice>
        <mc:Fallback xmlns="">
          <p:sp>
            <p:nvSpPr>
              <p:cNvPr id="12" name="CasellaDiTesto 11">
                <a:extLst>
                  <a:ext uri="{FF2B5EF4-FFF2-40B4-BE49-F238E27FC236}">
                    <a16:creationId xmlns:a16="http://schemas.microsoft.com/office/drawing/2014/main" id="{5011189D-6AB6-42A4-DDBC-DF4CB555CA69}"/>
                  </a:ext>
                </a:extLst>
              </p:cNvPr>
              <p:cNvSpPr txBox="1">
                <a:spLocks noRot="1" noChangeAspect="1" noMove="1" noResize="1" noEditPoints="1" noAdjustHandles="1" noChangeArrowheads="1" noChangeShapeType="1" noTextEdit="1"/>
              </p:cNvSpPr>
              <p:nvPr/>
            </p:nvSpPr>
            <p:spPr>
              <a:xfrm>
                <a:off x="3436106" y="1889047"/>
                <a:ext cx="2590800" cy="315086"/>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237296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1306" y="35542"/>
            <a:ext cx="3948212" cy="276999"/>
          </a:xfrm>
          <a:prstGeom prst="rect">
            <a:avLst/>
          </a:prstGeom>
        </p:spPr>
        <p:txBody>
          <a:bodyPr vert="horz" wrap="square" lIns="0" tIns="15240" rIns="0" bIns="0" rtlCol="0">
            <a:spAutoFit/>
          </a:bodyPr>
          <a:lstStyle/>
          <a:p>
            <a:pPr marL="12700">
              <a:lnSpc>
                <a:spcPct val="100000"/>
              </a:lnSpc>
              <a:spcBef>
                <a:spcPts val="120"/>
              </a:spcBef>
            </a:pPr>
            <a:r>
              <a:rPr lang="en-US" noProof="0" dirty="0"/>
              <a:t>Performance on the validation data</a:t>
            </a:r>
            <a:endParaRPr lang="en-US" spc="-75" noProof="0" dirty="0"/>
          </a:p>
        </p:txBody>
      </p:sp>
      <p:sp>
        <p:nvSpPr>
          <p:cNvPr id="4" name="object 4"/>
          <p:cNvSpPr txBox="1"/>
          <p:nvPr/>
        </p:nvSpPr>
        <p:spPr>
          <a:xfrm>
            <a:off x="215900" y="479425"/>
            <a:ext cx="3931285" cy="766235"/>
          </a:xfrm>
          <a:prstGeom prst="rect">
            <a:avLst/>
          </a:prstGeom>
        </p:spPr>
        <p:txBody>
          <a:bodyPr vert="horz" wrap="square" lIns="0" tIns="27305" rIns="0" bIns="0" rtlCol="0">
            <a:spAutoFit/>
          </a:bodyPr>
          <a:lstStyle/>
          <a:p>
            <a:pPr algn="l"/>
            <a:r>
              <a:rPr lang="it-IT" sz="1200" b="0" i="0" dirty="0">
                <a:solidFill>
                  <a:schemeClr val="tx1"/>
                </a:solidFill>
                <a:effectLst/>
                <a:latin typeface="Inter"/>
              </a:rPr>
              <a:t>The fine-</a:t>
            </a:r>
            <a:r>
              <a:rPr lang="it-IT" sz="1200" b="0" i="0" dirty="0" err="1">
                <a:solidFill>
                  <a:schemeClr val="tx1"/>
                </a:solidFill>
                <a:effectLst/>
                <a:latin typeface="Inter"/>
              </a:rPr>
              <a:t>tuned</a:t>
            </a:r>
            <a:r>
              <a:rPr lang="it-IT" sz="1200" b="0" i="0" dirty="0">
                <a:solidFill>
                  <a:schemeClr val="tx1"/>
                </a:solidFill>
                <a:effectLst/>
                <a:latin typeface="Inter"/>
              </a:rPr>
              <a:t> model, </a:t>
            </a:r>
            <a:r>
              <a:rPr lang="it-IT" sz="1200" b="0" i="0" dirty="0" err="1">
                <a:solidFill>
                  <a:schemeClr val="tx1"/>
                </a:solidFill>
                <a:effectLst/>
                <a:latin typeface="Inter"/>
              </a:rPr>
              <a:t>which</a:t>
            </a:r>
            <a:r>
              <a:rPr lang="it-IT" sz="1200" b="0" i="0" dirty="0">
                <a:solidFill>
                  <a:schemeClr val="tx1"/>
                </a:solidFill>
                <a:effectLst/>
                <a:latin typeface="Inter"/>
              </a:rPr>
              <a:t> </a:t>
            </a:r>
            <a:r>
              <a:rPr lang="it-IT" sz="1200" b="0" i="0" dirty="0" err="1">
                <a:solidFill>
                  <a:schemeClr val="tx1"/>
                </a:solidFill>
                <a:effectLst/>
                <a:latin typeface="Inter"/>
              </a:rPr>
              <a:t>was</a:t>
            </a:r>
            <a:r>
              <a:rPr lang="it-IT" sz="1200" b="0" i="0" dirty="0">
                <a:solidFill>
                  <a:schemeClr val="tx1"/>
                </a:solidFill>
                <a:effectLst/>
                <a:latin typeface="Inter"/>
              </a:rPr>
              <a:t> </a:t>
            </a:r>
            <a:r>
              <a:rPr lang="it-IT" sz="1200" b="0" i="0" dirty="0" err="1">
                <a:solidFill>
                  <a:schemeClr val="tx1"/>
                </a:solidFill>
                <a:effectLst/>
                <a:latin typeface="Inter"/>
              </a:rPr>
              <a:t>recursively</a:t>
            </a:r>
            <a:r>
              <a:rPr lang="it-IT" sz="1200" b="0" i="0" dirty="0">
                <a:solidFill>
                  <a:schemeClr val="tx1"/>
                </a:solidFill>
                <a:effectLst/>
                <a:latin typeface="Inter"/>
              </a:rPr>
              <a:t> </a:t>
            </a:r>
            <a:r>
              <a:rPr lang="it-IT" sz="1200" b="0" i="0" dirty="0" err="1">
                <a:solidFill>
                  <a:schemeClr val="tx1"/>
                </a:solidFill>
                <a:effectLst/>
                <a:latin typeface="Inter"/>
              </a:rPr>
              <a:t>refined</a:t>
            </a:r>
            <a:r>
              <a:rPr lang="it-IT" sz="1200" b="0" i="0" dirty="0">
                <a:solidFill>
                  <a:schemeClr val="tx1"/>
                </a:solidFill>
                <a:effectLst/>
                <a:latin typeface="Inter"/>
              </a:rPr>
              <a:t> and </a:t>
            </a:r>
            <a:r>
              <a:rPr lang="it-IT" sz="1200" b="0" i="0" dirty="0" err="1">
                <a:solidFill>
                  <a:schemeClr val="tx1"/>
                </a:solidFill>
                <a:effectLst/>
                <a:latin typeface="Inter"/>
              </a:rPr>
              <a:t>saved</a:t>
            </a:r>
            <a:r>
              <a:rPr lang="it-IT" sz="1200" b="0" i="0" dirty="0">
                <a:solidFill>
                  <a:schemeClr val="tx1"/>
                </a:solidFill>
                <a:effectLst/>
                <a:latin typeface="Inter"/>
              </a:rPr>
              <a:t> in the repository on Google Drive, after the </a:t>
            </a:r>
            <a:r>
              <a:rPr lang="it-IT" sz="1200" b="0" i="0" dirty="0" err="1">
                <a:solidFill>
                  <a:schemeClr val="tx1"/>
                </a:solidFill>
                <a:effectLst/>
                <a:latin typeface="Inter"/>
              </a:rPr>
              <a:t>cycle</a:t>
            </a:r>
            <a:r>
              <a:rPr lang="it-IT" sz="1200" b="0" i="0" dirty="0">
                <a:solidFill>
                  <a:schemeClr val="tx1"/>
                </a:solidFill>
                <a:effectLst/>
                <a:latin typeface="Inter"/>
              </a:rPr>
              <a:t> of </a:t>
            </a:r>
            <a:r>
              <a:rPr lang="it-IT" sz="1200" b="0" i="0" dirty="0" err="1">
                <a:solidFill>
                  <a:schemeClr val="tx1"/>
                </a:solidFill>
                <a:effectLst/>
                <a:latin typeface="Inter"/>
              </a:rPr>
              <a:t>something</a:t>
            </a:r>
            <a:r>
              <a:rPr lang="it-IT" sz="1200" b="0" i="0" dirty="0">
                <a:solidFill>
                  <a:schemeClr val="tx1"/>
                </a:solidFill>
                <a:effectLst/>
                <a:latin typeface="Inter"/>
              </a:rPr>
              <a:t> like 6 </a:t>
            </a:r>
            <a:r>
              <a:rPr lang="it-IT" sz="1200" b="0" i="0" dirty="0" err="1">
                <a:solidFill>
                  <a:schemeClr val="tx1"/>
                </a:solidFill>
                <a:effectLst/>
                <a:latin typeface="Inter"/>
              </a:rPr>
              <a:t>epoques</a:t>
            </a:r>
            <a:r>
              <a:rPr lang="it-IT" sz="1200" b="0" i="0" dirty="0">
                <a:solidFill>
                  <a:schemeClr val="tx1"/>
                </a:solidFill>
                <a:effectLst/>
                <a:latin typeface="Inter"/>
              </a:rPr>
              <a:t> . The performance of the models </a:t>
            </a:r>
            <a:r>
              <a:rPr lang="it-IT" sz="1200" b="0" i="0" dirty="0" err="1">
                <a:solidFill>
                  <a:schemeClr val="tx1"/>
                </a:solidFill>
                <a:effectLst/>
                <a:latin typeface="Inter"/>
              </a:rPr>
              <a:t>accurancy</a:t>
            </a:r>
            <a:r>
              <a:rPr lang="it-IT" sz="1200" b="0" i="0" dirty="0">
                <a:solidFill>
                  <a:schemeClr val="tx1"/>
                </a:solidFill>
                <a:effectLst/>
                <a:latin typeface="Inter"/>
              </a:rPr>
              <a:t>  and </a:t>
            </a:r>
            <a:r>
              <a:rPr lang="it-IT" sz="1200" b="0" i="0" dirty="0" err="1">
                <a:solidFill>
                  <a:schemeClr val="tx1"/>
                </a:solidFill>
                <a:effectLst/>
                <a:latin typeface="Inter"/>
              </a:rPr>
              <a:t>loss</a:t>
            </a:r>
            <a:r>
              <a:rPr lang="it-IT" sz="1200" b="0" i="0" dirty="0">
                <a:solidFill>
                  <a:schemeClr val="tx1"/>
                </a:solidFill>
                <a:effectLst/>
                <a:latin typeface="Inter"/>
              </a:rPr>
              <a:t>  </a:t>
            </a:r>
            <a:r>
              <a:rPr lang="it-IT" sz="1200" b="0" i="0" dirty="0" err="1">
                <a:solidFill>
                  <a:schemeClr val="tx1"/>
                </a:solidFill>
                <a:effectLst/>
                <a:latin typeface="Inter"/>
              </a:rPr>
              <a:t>during</a:t>
            </a:r>
            <a:r>
              <a:rPr lang="it-IT" sz="1200" b="0" i="0" dirty="0">
                <a:solidFill>
                  <a:schemeClr val="tx1"/>
                </a:solidFill>
                <a:effectLst/>
                <a:latin typeface="Inter"/>
              </a:rPr>
              <a:t>  the training history </a:t>
            </a:r>
            <a:r>
              <a:rPr lang="it-IT" sz="1200" b="0" i="0" dirty="0" err="1">
                <a:solidFill>
                  <a:schemeClr val="tx1"/>
                </a:solidFill>
                <a:effectLst/>
                <a:latin typeface="Inter"/>
              </a:rPr>
              <a:t>is</a:t>
            </a:r>
            <a:r>
              <a:rPr lang="it-IT" sz="1200" b="0" i="0" dirty="0">
                <a:solidFill>
                  <a:schemeClr val="tx1"/>
                </a:solidFill>
                <a:effectLst/>
                <a:latin typeface="Inter"/>
              </a:rPr>
              <a:t> </a:t>
            </a:r>
            <a:r>
              <a:rPr lang="it-IT" sz="1200" b="0" i="0" dirty="0" err="1">
                <a:solidFill>
                  <a:schemeClr val="tx1"/>
                </a:solidFill>
                <a:effectLst/>
                <a:latin typeface="Inter"/>
              </a:rPr>
              <a:t>as</a:t>
            </a:r>
            <a:r>
              <a:rPr lang="it-IT" sz="1200" b="0" i="0" dirty="0">
                <a:solidFill>
                  <a:schemeClr val="tx1"/>
                </a:solidFill>
                <a:effectLst/>
                <a:latin typeface="Inter"/>
              </a:rPr>
              <a:t> follows: </a:t>
            </a:r>
            <a:endParaRPr lang="en-US" sz="900" noProof="0" dirty="0">
              <a:solidFill>
                <a:schemeClr val="tx1"/>
              </a:solidFill>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705"/>
              </a:lnSpc>
            </a:pPr>
            <a:fld id="{81D60167-4931-47E6-BA6A-407CBD079E47}" type="slidenum">
              <a:rPr lang="en-US" spc="-25" noProof="0" smtClean="0"/>
              <a:t>14</a:t>
            </a:fld>
            <a:endParaRPr lang="en-US" spc="-25" noProof="0" dirty="0"/>
          </a:p>
        </p:txBody>
      </p:sp>
      <p:pic>
        <p:nvPicPr>
          <p:cNvPr id="6" name="Immagine 5" descr="Immagine che contiene testo, schermata, linea, Diagramma&#10;&#10;Il contenuto generato dall'IA potrebbe non essere corretto.">
            <a:extLst>
              <a:ext uri="{FF2B5EF4-FFF2-40B4-BE49-F238E27FC236}">
                <a16:creationId xmlns:a16="http://schemas.microsoft.com/office/drawing/2014/main" id="{3B0DAAB9-671E-B542-2C0C-0BC10856B2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5294" y="1171419"/>
            <a:ext cx="2631330" cy="1470876"/>
          </a:xfrm>
          <a:prstGeom prst="rect">
            <a:avLst/>
          </a:prstGeom>
        </p:spPr>
      </p:pic>
      <p:pic>
        <p:nvPicPr>
          <p:cNvPr id="8" name="Immagine 7" descr="Short model get better and better&#10;">
            <a:extLst>
              <a:ext uri="{FF2B5EF4-FFF2-40B4-BE49-F238E27FC236}">
                <a16:creationId xmlns:a16="http://schemas.microsoft.com/office/drawing/2014/main" id="{3185D499-A1CE-0ED5-8918-5EA389062E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170" y="1440024"/>
            <a:ext cx="2332315" cy="1320441"/>
          </a:xfrm>
          <a:prstGeom prst="rect">
            <a:avLst/>
          </a:prstGeom>
        </p:spPr>
      </p:pic>
      <p:sp>
        <p:nvSpPr>
          <p:cNvPr id="9" name="CasellaDiTesto 8">
            <a:extLst>
              <a:ext uri="{FF2B5EF4-FFF2-40B4-BE49-F238E27FC236}">
                <a16:creationId xmlns:a16="http://schemas.microsoft.com/office/drawing/2014/main" id="{8DEC92C2-33F9-2029-F778-22C2F242BC6A}"/>
              </a:ext>
            </a:extLst>
          </p:cNvPr>
          <p:cNvSpPr txBox="1"/>
          <p:nvPr/>
        </p:nvSpPr>
        <p:spPr>
          <a:xfrm>
            <a:off x="246458" y="2796451"/>
            <a:ext cx="2037737" cy="369332"/>
          </a:xfrm>
          <a:prstGeom prst="rect">
            <a:avLst/>
          </a:prstGeom>
          <a:noFill/>
        </p:spPr>
        <p:txBody>
          <a:bodyPr wrap="none" rtlCol="0">
            <a:spAutoFit/>
          </a:bodyPr>
          <a:lstStyle/>
          <a:p>
            <a:r>
              <a:rPr lang="en-US" sz="900" dirty="0"/>
              <a:t>Short model get better performance </a:t>
            </a:r>
          </a:p>
          <a:p>
            <a:r>
              <a:rPr lang="en-US" sz="900" dirty="0"/>
              <a:t>through the last 3 </a:t>
            </a:r>
            <a:r>
              <a:rPr lang="en-US" sz="900" dirty="0" err="1"/>
              <a:t>epoques</a:t>
            </a:r>
            <a:r>
              <a:rPr lang="en-US" sz="900" dirty="0"/>
              <a:t>.</a:t>
            </a:r>
          </a:p>
        </p:txBody>
      </p:sp>
      <p:sp>
        <p:nvSpPr>
          <p:cNvPr id="10" name="CasellaDiTesto 9">
            <a:extLst>
              <a:ext uri="{FF2B5EF4-FFF2-40B4-BE49-F238E27FC236}">
                <a16:creationId xmlns:a16="http://schemas.microsoft.com/office/drawing/2014/main" id="{D96E33F9-9A17-E8E0-161E-8E31213258FF}"/>
              </a:ext>
            </a:extLst>
          </p:cNvPr>
          <p:cNvSpPr txBox="1"/>
          <p:nvPr/>
        </p:nvSpPr>
        <p:spPr>
          <a:xfrm>
            <a:off x="3020651" y="2607375"/>
            <a:ext cx="2714439" cy="646331"/>
          </a:xfrm>
          <a:prstGeom prst="rect">
            <a:avLst/>
          </a:prstGeom>
          <a:noFill/>
        </p:spPr>
        <p:txBody>
          <a:bodyPr wrap="square" rtlCol="0">
            <a:spAutoFit/>
          </a:bodyPr>
          <a:lstStyle/>
          <a:p>
            <a:r>
              <a:rPr lang="en-US" sz="900" dirty="0" err="1">
                <a:solidFill>
                  <a:schemeClr val="tx1"/>
                </a:solidFill>
              </a:rPr>
              <a:t>Extented</a:t>
            </a:r>
            <a:r>
              <a:rPr lang="en-US" sz="900" dirty="0">
                <a:solidFill>
                  <a:schemeClr val="tx1"/>
                </a:solidFill>
              </a:rPr>
              <a:t> model go to overfit the data and get worst performance. The early stopping doesn’t start because is </a:t>
            </a:r>
            <a:r>
              <a:rPr lang="en-US" sz="900" dirty="0" err="1">
                <a:solidFill>
                  <a:schemeClr val="tx1"/>
                </a:solidFill>
              </a:rPr>
              <a:t>setted</a:t>
            </a:r>
            <a:r>
              <a:rPr lang="en-US" sz="900" dirty="0">
                <a:solidFill>
                  <a:schemeClr val="tx1"/>
                </a:solidFill>
              </a:rPr>
              <a:t> with 3 </a:t>
            </a:r>
            <a:r>
              <a:rPr lang="en-US" sz="900" dirty="0" err="1">
                <a:solidFill>
                  <a:schemeClr val="tx1"/>
                </a:solidFill>
              </a:rPr>
              <a:t>epoques</a:t>
            </a:r>
            <a:r>
              <a:rPr lang="en-US" sz="900" dirty="0">
                <a:solidFill>
                  <a:schemeClr val="tx1"/>
                </a:solidFill>
              </a:rPr>
              <a:t> of patience.</a:t>
            </a:r>
          </a:p>
        </p:txBody>
      </p:sp>
      <p:sp>
        <p:nvSpPr>
          <p:cNvPr id="11" name="CasellaDiTesto 10">
            <a:extLst>
              <a:ext uri="{FF2B5EF4-FFF2-40B4-BE49-F238E27FC236}">
                <a16:creationId xmlns:a16="http://schemas.microsoft.com/office/drawing/2014/main" id="{9F61A835-14FE-3A08-386B-6EF7B04F344C}"/>
              </a:ext>
            </a:extLst>
          </p:cNvPr>
          <p:cNvSpPr txBox="1"/>
          <p:nvPr/>
        </p:nvSpPr>
        <p:spPr>
          <a:xfrm>
            <a:off x="332389" y="1209738"/>
            <a:ext cx="2714439" cy="230832"/>
          </a:xfrm>
          <a:prstGeom prst="rect">
            <a:avLst/>
          </a:prstGeom>
          <a:noFill/>
        </p:spPr>
        <p:txBody>
          <a:bodyPr wrap="square" rtlCol="0">
            <a:spAutoFit/>
          </a:bodyPr>
          <a:lstStyle/>
          <a:p>
            <a:pPr algn="l"/>
            <a:r>
              <a:rPr lang="en-US" sz="900" dirty="0">
                <a:solidFill>
                  <a:srgbClr val="3F78D3"/>
                </a:solidFill>
              </a:rPr>
              <a:t>Performance of shorter model </a:t>
            </a:r>
          </a:p>
        </p:txBody>
      </p:sp>
      <p:sp>
        <p:nvSpPr>
          <p:cNvPr id="12" name="CasellaDiTesto 11">
            <a:extLst>
              <a:ext uri="{FF2B5EF4-FFF2-40B4-BE49-F238E27FC236}">
                <a16:creationId xmlns:a16="http://schemas.microsoft.com/office/drawing/2014/main" id="{F8DF5078-A7A9-017C-C95A-D553DFA6D848}"/>
              </a:ext>
            </a:extLst>
          </p:cNvPr>
          <p:cNvSpPr txBox="1"/>
          <p:nvPr/>
        </p:nvSpPr>
        <p:spPr>
          <a:xfrm>
            <a:off x="3340100" y="985210"/>
            <a:ext cx="2714439" cy="230832"/>
          </a:xfrm>
          <a:prstGeom prst="rect">
            <a:avLst/>
          </a:prstGeom>
          <a:noFill/>
        </p:spPr>
        <p:txBody>
          <a:bodyPr wrap="square" rtlCol="0">
            <a:spAutoFit/>
          </a:bodyPr>
          <a:lstStyle/>
          <a:p>
            <a:pPr algn="l"/>
            <a:r>
              <a:rPr lang="en-US" sz="900" dirty="0">
                <a:solidFill>
                  <a:srgbClr val="3F78D3"/>
                </a:solidFill>
              </a:rPr>
              <a:t>Performance of extended model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magine 10">
            <a:extLst>
              <a:ext uri="{FF2B5EF4-FFF2-40B4-BE49-F238E27FC236}">
                <a16:creationId xmlns:a16="http://schemas.microsoft.com/office/drawing/2014/main" id="{A6517B82-2106-2270-2C3E-90051EFA13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100" y="1517375"/>
            <a:ext cx="4142846" cy="461666"/>
          </a:xfrm>
          <a:prstGeom prst="rect">
            <a:avLst/>
          </a:prstGeom>
        </p:spPr>
      </p:pic>
      <p:sp>
        <p:nvSpPr>
          <p:cNvPr id="2" name="Titolo 1">
            <a:extLst>
              <a:ext uri="{FF2B5EF4-FFF2-40B4-BE49-F238E27FC236}">
                <a16:creationId xmlns:a16="http://schemas.microsoft.com/office/drawing/2014/main" id="{96718F37-BAA8-2E5C-627A-FC1BF3D195AB}"/>
              </a:ext>
            </a:extLst>
          </p:cNvPr>
          <p:cNvSpPr>
            <a:spLocks noGrp="1"/>
          </p:cNvSpPr>
          <p:nvPr>
            <p:ph type="title"/>
          </p:nvPr>
        </p:nvSpPr>
        <p:spPr>
          <a:xfrm>
            <a:off x="131306" y="35542"/>
            <a:ext cx="4561840" cy="261610"/>
          </a:xfrm>
        </p:spPr>
        <p:txBody>
          <a:bodyPr/>
          <a:lstStyle/>
          <a:p>
            <a:r>
              <a:rPr lang="en-US" noProof="0" dirty="0"/>
              <a:t>Performance on the test data</a:t>
            </a:r>
          </a:p>
        </p:txBody>
      </p:sp>
      <p:sp>
        <p:nvSpPr>
          <p:cNvPr id="4" name="object 4">
            <a:extLst>
              <a:ext uri="{FF2B5EF4-FFF2-40B4-BE49-F238E27FC236}">
                <a16:creationId xmlns:a16="http://schemas.microsoft.com/office/drawing/2014/main" id="{7038B4A8-694F-CD6F-A6D7-1E8BF0CA610C}"/>
              </a:ext>
            </a:extLst>
          </p:cNvPr>
          <p:cNvSpPr txBox="1"/>
          <p:nvPr/>
        </p:nvSpPr>
        <p:spPr>
          <a:xfrm>
            <a:off x="215900" y="479425"/>
            <a:ext cx="3931285" cy="2187715"/>
          </a:xfrm>
          <a:prstGeom prst="rect">
            <a:avLst/>
          </a:prstGeom>
        </p:spPr>
        <p:txBody>
          <a:bodyPr vert="horz" wrap="square" lIns="0" tIns="27305" rIns="0" bIns="0" rtlCol="0">
            <a:spAutoFit/>
          </a:bodyPr>
          <a:lstStyle/>
          <a:p>
            <a:pPr algn="l"/>
            <a:r>
              <a:rPr lang="it-IT" sz="1200" b="0" i="0" dirty="0">
                <a:solidFill>
                  <a:schemeClr val="tx1"/>
                </a:solidFill>
                <a:effectLst/>
                <a:latin typeface="Inter"/>
              </a:rPr>
              <a:t>The fine-</a:t>
            </a:r>
            <a:r>
              <a:rPr lang="it-IT" sz="1200" b="0" i="0" dirty="0" err="1">
                <a:solidFill>
                  <a:schemeClr val="tx1"/>
                </a:solidFill>
                <a:effectLst/>
                <a:latin typeface="Inter"/>
              </a:rPr>
              <a:t>tuned</a:t>
            </a:r>
            <a:r>
              <a:rPr lang="it-IT" sz="1200" b="0" i="0" dirty="0">
                <a:solidFill>
                  <a:schemeClr val="tx1"/>
                </a:solidFill>
                <a:effectLst/>
                <a:latin typeface="Inter"/>
              </a:rPr>
              <a:t> model, </a:t>
            </a:r>
            <a:r>
              <a:rPr lang="it-IT" sz="1200" b="0" i="0" dirty="0" err="1">
                <a:solidFill>
                  <a:schemeClr val="tx1"/>
                </a:solidFill>
                <a:effectLst/>
                <a:latin typeface="Inter"/>
              </a:rPr>
              <a:t>which</a:t>
            </a:r>
            <a:r>
              <a:rPr lang="it-IT" sz="1200" b="0" i="0" dirty="0">
                <a:solidFill>
                  <a:schemeClr val="tx1"/>
                </a:solidFill>
                <a:effectLst/>
                <a:latin typeface="Inter"/>
              </a:rPr>
              <a:t> </a:t>
            </a:r>
            <a:r>
              <a:rPr lang="it-IT" sz="1200" b="0" i="0" dirty="0" err="1">
                <a:solidFill>
                  <a:schemeClr val="tx1"/>
                </a:solidFill>
                <a:effectLst/>
                <a:latin typeface="Inter"/>
              </a:rPr>
              <a:t>was</a:t>
            </a:r>
            <a:r>
              <a:rPr lang="it-IT" sz="1200" b="0" i="0" dirty="0">
                <a:solidFill>
                  <a:schemeClr val="tx1"/>
                </a:solidFill>
                <a:effectLst/>
                <a:latin typeface="Inter"/>
              </a:rPr>
              <a:t> </a:t>
            </a:r>
            <a:r>
              <a:rPr lang="it-IT" sz="1200" b="0" i="0" dirty="0" err="1">
                <a:solidFill>
                  <a:schemeClr val="tx1"/>
                </a:solidFill>
                <a:effectLst/>
                <a:latin typeface="Inter"/>
              </a:rPr>
              <a:t>recursively</a:t>
            </a:r>
            <a:r>
              <a:rPr lang="it-IT" sz="1200" b="0" i="0" dirty="0">
                <a:solidFill>
                  <a:schemeClr val="tx1"/>
                </a:solidFill>
                <a:effectLst/>
                <a:latin typeface="Inter"/>
              </a:rPr>
              <a:t> </a:t>
            </a:r>
            <a:r>
              <a:rPr lang="it-IT" sz="1200" b="0" i="0" dirty="0" err="1">
                <a:solidFill>
                  <a:schemeClr val="tx1"/>
                </a:solidFill>
                <a:effectLst/>
                <a:latin typeface="Inter"/>
              </a:rPr>
              <a:t>refined</a:t>
            </a:r>
            <a:r>
              <a:rPr lang="it-IT" sz="1200" b="0" i="0" dirty="0">
                <a:solidFill>
                  <a:schemeClr val="tx1"/>
                </a:solidFill>
                <a:effectLst/>
                <a:latin typeface="Inter"/>
              </a:rPr>
              <a:t> and </a:t>
            </a:r>
            <a:r>
              <a:rPr lang="it-IT" sz="1200" b="0" i="0" dirty="0" err="1">
                <a:solidFill>
                  <a:schemeClr val="tx1"/>
                </a:solidFill>
                <a:effectLst/>
                <a:latin typeface="Inter"/>
              </a:rPr>
              <a:t>saved</a:t>
            </a:r>
            <a:r>
              <a:rPr lang="it-IT" sz="1200" b="0" i="0" dirty="0">
                <a:solidFill>
                  <a:schemeClr val="tx1"/>
                </a:solidFill>
                <a:effectLst/>
                <a:latin typeface="Inter"/>
              </a:rPr>
              <a:t> in the repository on Google Drive, after the </a:t>
            </a:r>
            <a:r>
              <a:rPr lang="it-IT" sz="1200" b="0" i="0" dirty="0" err="1">
                <a:solidFill>
                  <a:schemeClr val="tx1"/>
                </a:solidFill>
                <a:effectLst/>
                <a:latin typeface="Inter"/>
              </a:rPr>
              <a:t>cycle</a:t>
            </a:r>
            <a:r>
              <a:rPr lang="it-IT" sz="1200" b="0" i="0" dirty="0">
                <a:solidFill>
                  <a:schemeClr val="tx1"/>
                </a:solidFill>
                <a:effectLst/>
                <a:latin typeface="Inter"/>
              </a:rPr>
              <a:t> of </a:t>
            </a:r>
            <a:r>
              <a:rPr lang="it-IT" sz="1200" b="0" i="0" dirty="0" err="1">
                <a:solidFill>
                  <a:schemeClr val="tx1"/>
                </a:solidFill>
                <a:effectLst/>
                <a:latin typeface="Inter"/>
              </a:rPr>
              <a:t>something</a:t>
            </a:r>
            <a:r>
              <a:rPr lang="it-IT" sz="1200" b="0" i="0" dirty="0">
                <a:solidFill>
                  <a:schemeClr val="tx1"/>
                </a:solidFill>
                <a:effectLst/>
                <a:latin typeface="Inter"/>
              </a:rPr>
              <a:t> like 6 </a:t>
            </a:r>
            <a:r>
              <a:rPr lang="it-IT" sz="1200" b="0" i="0" dirty="0" err="1">
                <a:solidFill>
                  <a:schemeClr val="tx1"/>
                </a:solidFill>
                <a:effectLst/>
                <a:latin typeface="Inter"/>
              </a:rPr>
              <a:t>epoques</a:t>
            </a:r>
            <a:r>
              <a:rPr lang="it-IT" sz="1200" b="0" i="0" dirty="0">
                <a:solidFill>
                  <a:schemeClr val="tx1"/>
                </a:solidFill>
                <a:effectLst/>
                <a:latin typeface="Inter"/>
              </a:rPr>
              <a:t> . </a:t>
            </a:r>
          </a:p>
          <a:p>
            <a:pPr algn="l"/>
            <a:r>
              <a:rPr lang="it-IT" sz="1200" b="0" i="0" dirty="0">
                <a:solidFill>
                  <a:schemeClr val="tx1"/>
                </a:solidFill>
                <a:effectLst/>
                <a:latin typeface="Inter"/>
              </a:rPr>
              <a:t>The performance of the models on the test data </a:t>
            </a:r>
            <a:r>
              <a:rPr lang="it-IT" sz="1200" dirty="0">
                <a:solidFill>
                  <a:schemeClr val="tx1"/>
                </a:solidFill>
                <a:latin typeface="Inter"/>
              </a:rPr>
              <a:t>:</a:t>
            </a:r>
            <a:endParaRPr lang="it-IT" sz="1200" b="0" i="0" dirty="0">
              <a:solidFill>
                <a:schemeClr val="tx1"/>
              </a:solidFill>
              <a:effectLst/>
              <a:latin typeface="Inter"/>
            </a:endParaRPr>
          </a:p>
          <a:p>
            <a:pPr algn="l"/>
            <a:endParaRPr lang="it-IT" sz="1200" b="0" i="0" dirty="0">
              <a:solidFill>
                <a:srgbClr val="404040"/>
              </a:solidFill>
              <a:effectLst/>
              <a:latin typeface="Inter"/>
            </a:endParaRPr>
          </a:p>
          <a:p>
            <a:pPr algn="l"/>
            <a:endParaRPr lang="it-IT" sz="1200" b="0" i="0" dirty="0">
              <a:solidFill>
                <a:srgbClr val="404040"/>
              </a:solidFill>
              <a:effectLst/>
              <a:latin typeface="Inter"/>
            </a:endParaRPr>
          </a:p>
          <a:p>
            <a:pPr algn="l"/>
            <a:endParaRPr lang="it-IT" sz="1200" dirty="0">
              <a:solidFill>
                <a:srgbClr val="404040"/>
              </a:solidFill>
              <a:latin typeface="Inter"/>
            </a:endParaRPr>
          </a:p>
          <a:p>
            <a:pPr algn="l"/>
            <a:endParaRPr lang="it-IT" sz="1200" dirty="0">
              <a:solidFill>
                <a:srgbClr val="404040"/>
              </a:solidFill>
              <a:latin typeface="Inter"/>
            </a:endParaRPr>
          </a:p>
          <a:p>
            <a:pPr algn="l"/>
            <a:endParaRPr lang="it-IT" sz="1200" b="0" i="0" dirty="0">
              <a:solidFill>
                <a:srgbClr val="404040"/>
              </a:solidFill>
              <a:effectLst/>
              <a:latin typeface="Inter"/>
            </a:endParaRPr>
          </a:p>
          <a:p>
            <a:pPr algn="l"/>
            <a:endParaRPr lang="it-IT" sz="1200" b="0" i="0" dirty="0">
              <a:solidFill>
                <a:srgbClr val="404040"/>
              </a:solidFill>
              <a:effectLst/>
              <a:latin typeface="Inter"/>
            </a:endParaRPr>
          </a:p>
          <a:p>
            <a:pPr>
              <a:lnSpc>
                <a:spcPct val="100000"/>
              </a:lnSpc>
              <a:spcBef>
                <a:spcPts val="229"/>
              </a:spcBef>
            </a:pPr>
            <a:endParaRPr lang="en-US" sz="1200" noProof="0" dirty="0">
              <a:latin typeface="Calibri"/>
              <a:cs typeface="Calibri"/>
            </a:endParaRPr>
          </a:p>
          <a:p>
            <a:pPr marL="323850" algn="ctr">
              <a:lnSpc>
                <a:spcPts val="810"/>
              </a:lnSpc>
              <a:spcBef>
                <a:spcPts val="5"/>
              </a:spcBef>
            </a:pPr>
            <a:endParaRPr lang="en-US" sz="900" noProof="0" dirty="0">
              <a:latin typeface="Arial"/>
              <a:cs typeface="Arial"/>
            </a:endParaRPr>
          </a:p>
        </p:txBody>
      </p:sp>
      <p:sp>
        <p:nvSpPr>
          <p:cNvPr id="9" name="CasellaDiTesto 8">
            <a:extLst>
              <a:ext uri="{FF2B5EF4-FFF2-40B4-BE49-F238E27FC236}">
                <a16:creationId xmlns:a16="http://schemas.microsoft.com/office/drawing/2014/main" id="{76496D3F-ADFB-3B46-76F3-92BEC493E39F}"/>
              </a:ext>
            </a:extLst>
          </p:cNvPr>
          <p:cNvSpPr txBox="1"/>
          <p:nvPr/>
        </p:nvSpPr>
        <p:spPr>
          <a:xfrm>
            <a:off x="4147185" y="1516005"/>
            <a:ext cx="1234633" cy="461665"/>
          </a:xfrm>
          <a:prstGeom prst="rect">
            <a:avLst/>
          </a:prstGeom>
          <a:noFill/>
        </p:spPr>
        <p:txBody>
          <a:bodyPr wrap="none" rtlCol="0">
            <a:spAutoFit/>
          </a:bodyPr>
          <a:lstStyle/>
          <a:p>
            <a:pPr algn="l"/>
            <a:r>
              <a:rPr lang="en-US" sz="1200" dirty="0">
                <a:solidFill>
                  <a:srgbClr val="3F78D3"/>
                </a:solidFill>
              </a:rPr>
              <a:t>Performance of</a:t>
            </a:r>
          </a:p>
          <a:p>
            <a:pPr algn="l"/>
            <a:r>
              <a:rPr lang="en-US" sz="1200" dirty="0">
                <a:solidFill>
                  <a:srgbClr val="3F78D3"/>
                </a:solidFill>
              </a:rPr>
              <a:t> shorter model </a:t>
            </a:r>
          </a:p>
        </p:txBody>
      </p:sp>
      <p:sp>
        <p:nvSpPr>
          <p:cNvPr id="10" name="CasellaDiTesto 9">
            <a:extLst>
              <a:ext uri="{FF2B5EF4-FFF2-40B4-BE49-F238E27FC236}">
                <a16:creationId xmlns:a16="http://schemas.microsoft.com/office/drawing/2014/main" id="{55CB901C-2931-67EC-F672-A72366CB37E5}"/>
              </a:ext>
            </a:extLst>
          </p:cNvPr>
          <p:cNvSpPr txBox="1"/>
          <p:nvPr/>
        </p:nvSpPr>
        <p:spPr>
          <a:xfrm>
            <a:off x="630883" y="2205475"/>
            <a:ext cx="1317990" cy="461665"/>
          </a:xfrm>
          <a:prstGeom prst="rect">
            <a:avLst/>
          </a:prstGeom>
          <a:noFill/>
        </p:spPr>
        <p:txBody>
          <a:bodyPr wrap="none" rtlCol="0">
            <a:spAutoFit/>
          </a:bodyPr>
          <a:lstStyle/>
          <a:p>
            <a:pPr algn="r"/>
            <a:r>
              <a:rPr lang="en-US" sz="1200" dirty="0">
                <a:solidFill>
                  <a:srgbClr val="3F78D3"/>
                </a:solidFill>
              </a:rPr>
              <a:t>Performance of </a:t>
            </a:r>
          </a:p>
          <a:p>
            <a:pPr algn="r"/>
            <a:r>
              <a:rPr lang="en-US" sz="1200" dirty="0">
                <a:solidFill>
                  <a:srgbClr val="3F78D3"/>
                </a:solidFill>
              </a:rPr>
              <a:t>extended model </a:t>
            </a:r>
          </a:p>
        </p:txBody>
      </p:sp>
      <p:pic>
        <p:nvPicPr>
          <p:cNvPr id="12" name="Immagine 11" descr="Immagine che contiene testo, Carattere, schermata&#10;&#10;Il contenuto generato dall'IA potrebbe non essere corretto.">
            <a:extLst>
              <a:ext uri="{FF2B5EF4-FFF2-40B4-BE49-F238E27FC236}">
                <a16:creationId xmlns:a16="http://schemas.microsoft.com/office/drawing/2014/main" id="{AA3BF5C0-93DF-3A75-7701-AA0FD632D272}"/>
              </a:ext>
            </a:extLst>
          </p:cNvPr>
          <p:cNvPicPr>
            <a:picLocks noChangeAspect="1"/>
          </p:cNvPicPr>
          <p:nvPr/>
        </p:nvPicPr>
        <p:blipFill>
          <a:blip r:embed="rId3">
            <a:extLst>
              <a:ext uri="{28A0092B-C50C-407E-A947-70E740481C1C}">
                <a14:useLocalDpi xmlns:a14="http://schemas.microsoft.com/office/drawing/2010/main" val="0"/>
              </a:ext>
            </a:extLst>
          </a:blip>
          <a:srcRect r="31908" b="5402"/>
          <a:stretch/>
        </p:blipFill>
        <p:spPr>
          <a:xfrm>
            <a:off x="4313149" y="682590"/>
            <a:ext cx="1459001" cy="693427"/>
          </a:xfrm>
          <a:prstGeom prst="rect">
            <a:avLst/>
          </a:prstGeom>
        </p:spPr>
      </p:pic>
      <p:pic>
        <p:nvPicPr>
          <p:cNvPr id="14" name="Immagine 13">
            <a:extLst>
              <a:ext uri="{FF2B5EF4-FFF2-40B4-BE49-F238E27FC236}">
                <a16:creationId xmlns:a16="http://schemas.microsoft.com/office/drawing/2014/main" id="{16CFE50F-435E-7612-D047-846A4089DA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48873" y="2243752"/>
            <a:ext cx="3721100" cy="412039"/>
          </a:xfrm>
          <a:prstGeom prst="rect">
            <a:avLst/>
          </a:prstGeom>
        </p:spPr>
      </p:pic>
    </p:spTree>
    <p:extLst>
      <p:ext uri="{BB962C8B-B14F-4D97-AF65-F5344CB8AC3E}">
        <p14:creationId xmlns:p14="http://schemas.microsoft.com/office/powerpoint/2010/main" val="8138368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E3F88-49F1-C698-5694-05E4DBFDDC27}"/>
            </a:ext>
          </a:extLst>
        </p:cNvPr>
        <p:cNvGrpSpPr/>
        <p:nvPr/>
      </p:nvGrpSpPr>
      <p:grpSpPr>
        <a:xfrm>
          <a:off x="0" y="0"/>
          <a:ext cx="0" cy="0"/>
          <a:chOff x="0" y="0"/>
          <a:chExt cx="0" cy="0"/>
        </a:xfrm>
      </p:grpSpPr>
      <p:pic>
        <p:nvPicPr>
          <p:cNvPr id="16" name="Immagine 15" descr="Immagine che contiene testo, schermata, Carattere, algebra&#10;&#10;Il contenuto generato dall'IA potrebbe non essere corretto.">
            <a:extLst>
              <a:ext uri="{FF2B5EF4-FFF2-40B4-BE49-F238E27FC236}">
                <a16:creationId xmlns:a16="http://schemas.microsoft.com/office/drawing/2014/main" id="{C49FEFF4-5C6E-A4A3-A8D5-DAA3F3EBD0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49700" y="1398626"/>
            <a:ext cx="1708245" cy="1464809"/>
          </a:xfrm>
          <a:prstGeom prst="rect">
            <a:avLst/>
          </a:prstGeom>
        </p:spPr>
      </p:pic>
      <p:pic>
        <p:nvPicPr>
          <p:cNvPr id="14" name="Immagine 13" descr="Immagine che contiene testo, Carattere, schermata, algebra&#10;&#10;Il contenuto generato dall'IA potrebbe non essere corretto.">
            <a:extLst>
              <a:ext uri="{FF2B5EF4-FFF2-40B4-BE49-F238E27FC236}">
                <a16:creationId xmlns:a16="http://schemas.microsoft.com/office/drawing/2014/main" id="{17502151-5880-4C39-09E8-8A4418B0BA29}"/>
              </a:ext>
            </a:extLst>
          </p:cNvPr>
          <p:cNvPicPr>
            <a:picLocks noChangeAspect="1"/>
          </p:cNvPicPr>
          <p:nvPr/>
        </p:nvPicPr>
        <p:blipFill>
          <a:blip r:embed="rId3">
            <a:extLst>
              <a:ext uri="{28A0092B-C50C-407E-A947-70E740481C1C}">
                <a14:useLocalDpi xmlns:a14="http://schemas.microsoft.com/office/drawing/2010/main" val="0"/>
              </a:ext>
            </a:extLst>
          </a:blip>
          <a:srcRect r="43698"/>
          <a:stretch/>
        </p:blipFill>
        <p:spPr>
          <a:xfrm>
            <a:off x="292100" y="1369297"/>
            <a:ext cx="2395359" cy="1547483"/>
          </a:xfrm>
          <a:prstGeom prst="rect">
            <a:avLst/>
          </a:prstGeom>
        </p:spPr>
      </p:pic>
      <p:sp>
        <p:nvSpPr>
          <p:cNvPr id="2" name="Titolo 1">
            <a:extLst>
              <a:ext uri="{FF2B5EF4-FFF2-40B4-BE49-F238E27FC236}">
                <a16:creationId xmlns:a16="http://schemas.microsoft.com/office/drawing/2014/main" id="{7B388B35-FB92-010A-95F3-DDE1FA88F2E7}"/>
              </a:ext>
            </a:extLst>
          </p:cNvPr>
          <p:cNvSpPr>
            <a:spLocks noGrp="1"/>
          </p:cNvSpPr>
          <p:nvPr>
            <p:ph type="title"/>
          </p:nvPr>
        </p:nvSpPr>
        <p:spPr>
          <a:xfrm>
            <a:off x="131306" y="35542"/>
            <a:ext cx="4561840" cy="261610"/>
          </a:xfrm>
        </p:spPr>
        <p:txBody>
          <a:bodyPr/>
          <a:lstStyle/>
          <a:p>
            <a:r>
              <a:rPr lang="en-US" noProof="0" dirty="0"/>
              <a:t>Performance on the manually input data </a:t>
            </a:r>
          </a:p>
        </p:txBody>
      </p:sp>
      <p:sp>
        <p:nvSpPr>
          <p:cNvPr id="4" name="object 4">
            <a:extLst>
              <a:ext uri="{FF2B5EF4-FFF2-40B4-BE49-F238E27FC236}">
                <a16:creationId xmlns:a16="http://schemas.microsoft.com/office/drawing/2014/main" id="{C5B73663-035E-1F43-89E9-ED520D956F4A}"/>
              </a:ext>
            </a:extLst>
          </p:cNvPr>
          <p:cNvSpPr txBox="1"/>
          <p:nvPr/>
        </p:nvSpPr>
        <p:spPr>
          <a:xfrm>
            <a:off x="215900" y="479425"/>
            <a:ext cx="3931285" cy="2187715"/>
          </a:xfrm>
          <a:prstGeom prst="rect">
            <a:avLst/>
          </a:prstGeom>
        </p:spPr>
        <p:txBody>
          <a:bodyPr vert="horz" wrap="square" lIns="0" tIns="27305" rIns="0" bIns="0" rtlCol="0">
            <a:spAutoFit/>
          </a:bodyPr>
          <a:lstStyle/>
          <a:p>
            <a:pPr algn="l"/>
            <a:r>
              <a:rPr lang="it-IT" sz="1200" b="0" i="0" dirty="0">
                <a:solidFill>
                  <a:schemeClr val="tx1"/>
                </a:solidFill>
                <a:effectLst/>
                <a:latin typeface="Inter"/>
              </a:rPr>
              <a:t>The fine-</a:t>
            </a:r>
            <a:r>
              <a:rPr lang="it-IT" sz="1200" b="0" i="0" dirty="0" err="1">
                <a:solidFill>
                  <a:schemeClr val="tx1"/>
                </a:solidFill>
                <a:effectLst/>
                <a:latin typeface="Inter"/>
              </a:rPr>
              <a:t>tuned</a:t>
            </a:r>
            <a:r>
              <a:rPr lang="it-IT" sz="1200" b="0" i="0" dirty="0">
                <a:solidFill>
                  <a:schemeClr val="tx1"/>
                </a:solidFill>
                <a:effectLst/>
                <a:latin typeface="Inter"/>
              </a:rPr>
              <a:t> model, </a:t>
            </a:r>
            <a:r>
              <a:rPr lang="it-IT" sz="1200" b="0" i="0" dirty="0" err="1">
                <a:solidFill>
                  <a:schemeClr val="tx1"/>
                </a:solidFill>
                <a:effectLst/>
                <a:latin typeface="Inter"/>
              </a:rPr>
              <a:t>which</a:t>
            </a:r>
            <a:r>
              <a:rPr lang="it-IT" sz="1200" b="0" i="0" dirty="0">
                <a:solidFill>
                  <a:schemeClr val="tx1"/>
                </a:solidFill>
                <a:effectLst/>
                <a:latin typeface="Inter"/>
              </a:rPr>
              <a:t> </a:t>
            </a:r>
            <a:r>
              <a:rPr lang="it-IT" sz="1200" b="0" i="0" dirty="0" err="1">
                <a:solidFill>
                  <a:schemeClr val="tx1"/>
                </a:solidFill>
                <a:effectLst/>
                <a:latin typeface="Inter"/>
              </a:rPr>
              <a:t>was</a:t>
            </a:r>
            <a:r>
              <a:rPr lang="it-IT" sz="1200" b="0" i="0" dirty="0">
                <a:solidFill>
                  <a:schemeClr val="tx1"/>
                </a:solidFill>
                <a:effectLst/>
                <a:latin typeface="Inter"/>
              </a:rPr>
              <a:t> </a:t>
            </a:r>
            <a:r>
              <a:rPr lang="it-IT" sz="1200" b="0" i="0" dirty="0" err="1">
                <a:solidFill>
                  <a:schemeClr val="tx1"/>
                </a:solidFill>
                <a:effectLst/>
                <a:latin typeface="Inter"/>
              </a:rPr>
              <a:t>recursively</a:t>
            </a:r>
            <a:r>
              <a:rPr lang="it-IT" sz="1200" b="0" i="0" dirty="0">
                <a:solidFill>
                  <a:schemeClr val="tx1"/>
                </a:solidFill>
                <a:effectLst/>
                <a:latin typeface="Inter"/>
              </a:rPr>
              <a:t> </a:t>
            </a:r>
            <a:r>
              <a:rPr lang="it-IT" sz="1200" b="0" i="0" dirty="0" err="1">
                <a:solidFill>
                  <a:schemeClr val="tx1"/>
                </a:solidFill>
                <a:effectLst/>
                <a:latin typeface="Inter"/>
              </a:rPr>
              <a:t>refined</a:t>
            </a:r>
            <a:r>
              <a:rPr lang="it-IT" sz="1200" b="0" i="0" dirty="0">
                <a:solidFill>
                  <a:schemeClr val="tx1"/>
                </a:solidFill>
                <a:effectLst/>
                <a:latin typeface="Inter"/>
              </a:rPr>
              <a:t> and </a:t>
            </a:r>
            <a:r>
              <a:rPr lang="it-IT" sz="1200" b="0" i="0" dirty="0" err="1">
                <a:solidFill>
                  <a:schemeClr val="tx1"/>
                </a:solidFill>
                <a:effectLst/>
                <a:latin typeface="Inter"/>
              </a:rPr>
              <a:t>saved</a:t>
            </a:r>
            <a:r>
              <a:rPr lang="it-IT" sz="1200" b="0" i="0" dirty="0">
                <a:solidFill>
                  <a:schemeClr val="tx1"/>
                </a:solidFill>
                <a:effectLst/>
                <a:latin typeface="Inter"/>
              </a:rPr>
              <a:t> in the repository on Google Drive, after the </a:t>
            </a:r>
            <a:r>
              <a:rPr lang="it-IT" sz="1200" b="0" i="0" dirty="0" err="1">
                <a:solidFill>
                  <a:schemeClr val="tx1"/>
                </a:solidFill>
                <a:effectLst/>
                <a:latin typeface="Inter"/>
              </a:rPr>
              <a:t>cycle</a:t>
            </a:r>
            <a:r>
              <a:rPr lang="it-IT" sz="1200" b="0" i="0" dirty="0">
                <a:solidFill>
                  <a:schemeClr val="tx1"/>
                </a:solidFill>
                <a:effectLst/>
                <a:latin typeface="Inter"/>
              </a:rPr>
              <a:t> of </a:t>
            </a:r>
            <a:r>
              <a:rPr lang="it-IT" sz="1200" b="0" i="0" dirty="0" err="1">
                <a:solidFill>
                  <a:schemeClr val="tx1"/>
                </a:solidFill>
                <a:effectLst/>
                <a:latin typeface="Inter"/>
              </a:rPr>
              <a:t>something</a:t>
            </a:r>
            <a:r>
              <a:rPr lang="it-IT" sz="1200" b="0" i="0" dirty="0">
                <a:solidFill>
                  <a:schemeClr val="tx1"/>
                </a:solidFill>
                <a:effectLst/>
                <a:latin typeface="Inter"/>
              </a:rPr>
              <a:t> like 6 </a:t>
            </a:r>
            <a:r>
              <a:rPr lang="it-IT" sz="1200" b="0" i="0" dirty="0" err="1">
                <a:solidFill>
                  <a:schemeClr val="tx1"/>
                </a:solidFill>
                <a:effectLst/>
                <a:latin typeface="Inter"/>
              </a:rPr>
              <a:t>epoques</a:t>
            </a:r>
            <a:r>
              <a:rPr lang="it-IT" sz="1200" b="0" i="0" dirty="0">
                <a:solidFill>
                  <a:schemeClr val="tx1"/>
                </a:solidFill>
                <a:effectLst/>
                <a:latin typeface="Inter"/>
              </a:rPr>
              <a:t> . </a:t>
            </a:r>
          </a:p>
          <a:p>
            <a:pPr algn="l"/>
            <a:r>
              <a:rPr lang="it-IT" sz="1200" b="0" i="0" dirty="0">
                <a:solidFill>
                  <a:schemeClr val="tx1"/>
                </a:solidFill>
                <a:effectLst/>
                <a:latin typeface="Inter"/>
              </a:rPr>
              <a:t>The performance of the models on </a:t>
            </a:r>
            <a:r>
              <a:rPr lang="it-IT" sz="1200" dirty="0">
                <a:solidFill>
                  <a:schemeClr val="tx1"/>
                </a:solidFill>
                <a:latin typeface="Inter"/>
              </a:rPr>
              <a:t>the </a:t>
            </a:r>
            <a:r>
              <a:rPr lang="it-IT" sz="1200" dirty="0" err="1">
                <a:solidFill>
                  <a:schemeClr val="tx1"/>
                </a:solidFill>
                <a:latin typeface="Inter"/>
              </a:rPr>
              <a:t>manually</a:t>
            </a:r>
            <a:r>
              <a:rPr lang="it-IT" sz="1200" dirty="0">
                <a:solidFill>
                  <a:schemeClr val="tx1"/>
                </a:solidFill>
                <a:latin typeface="Inter"/>
              </a:rPr>
              <a:t> input data :</a:t>
            </a:r>
            <a:endParaRPr lang="it-IT" sz="1200" b="0" i="0" dirty="0">
              <a:solidFill>
                <a:schemeClr val="tx1"/>
              </a:solidFill>
              <a:effectLst/>
              <a:latin typeface="Inter"/>
            </a:endParaRPr>
          </a:p>
          <a:p>
            <a:pPr algn="l"/>
            <a:endParaRPr lang="it-IT" sz="1200" b="0" i="0" dirty="0">
              <a:solidFill>
                <a:srgbClr val="404040"/>
              </a:solidFill>
              <a:effectLst/>
              <a:latin typeface="Inter"/>
            </a:endParaRPr>
          </a:p>
          <a:p>
            <a:pPr algn="l"/>
            <a:endParaRPr lang="it-IT" sz="1200" b="0" i="0" dirty="0">
              <a:solidFill>
                <a:srgbClr val="404040"/>
              </a:solidFill>
              <a:effectLst/>
              <a:latin typeface="Inter"/>
            </a:endParaRPr>
          </a:p>
          <a:p>
            <a:pPr algn="l"/>
            <a:endParaRPr lang="it-IT" sz="1200" dirty="0">
              <a:solidFill>
                <a:srgbClr val="404040"/>
              </a:solidFill>
              <a:latin typeface="Inter"/>
            </a:endParaRPr>
          </a:p>
          <a:p>
            <a:pPr algn="l"/>
            <a:endParaRPr lang="it-IT" sz="1200" dirty="0">
              <a:solidFill>
                <a:srgbClr val="404040"/>
              </a:solidFill>
              <a:latin typeface="Inter"/>
            </a:endParaRPr>
          </a:p>
          <a:p>
            <a:pPr algn="l"/>
            <a:endParaRPr lang="it-IT" sz="1200" b="0" i="0" dirty="0">
              <a:solidFill>
                <a:srgbClr val="404040"/>
              </a:solidFill>
              <a:effectLst/>
              <a:latin typeface="Inter"/>
            </a:endParaRPr>
          </a:p>
          <a:p>
            <a:pPr algn="l"/>
            <a:endParaRPr lang="it-IT" sz="1200" b="0" i="0" dirty="0">
              <a:solidFill>
                <a:srgbClr val="404040"/>
              </a:solidFill>
              <a:effectLst/>
              <a:latin typeface="Inter"/>
            </a:endParaRPr>
          </a:p>
          <a:p>
            <a:pPr>
              <a:lnSpc>
                <a:spcPct val="100000"/>
              </a:lnSpc>
              <a:spcBef>
                <a:spcPts val="229"/>
              </a:spcBef>
            </a:pPr>
            <a:endParaRPr lang="en-US" sz="1200" noProof="0" dirty="0">
              <a:latin typeface="Calibri"/>
              <a:cs typeface="Calibri"/>
            </a:endParaRPr>
          </a:p>
          <a:p>
            <a:pPr marL="323850" algn="ctr">
              <a:lnSpc>
                <a:spcPts val="810"/>
              </a:lnSpc>
              <a:spcBef>
                <a:spcPts val="5"/>
              </a:spcBef>
            </a:pPr>
            <a:endParaRPr lang="en-US" sz="900" noProof="0" dirty="0">
              <a:latin typeface="Arial"/>
              <a:cs typeface="Arial"/>
            </a:endParaRPr>
          </a:p>
        </p:txBody>
      </p:sp>
      <p:pic>
        <p:nvPicPr>
          <p:cNvPr id="5" name="Elemento grafico 4" descr="Terminale cmd con riempimento a tinta unita">
            <a:extLst>
              <a:ext uri="{FF2B5EF4-FFF2-40B4-BE49-F238E27FC236}">
                <a16:creationId xmlns:a16="http://schemas.microsoft.com/office/drawing/2014/main" id="{A6A06598-81E8-7450-387E-FBD94D1558E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483100" y="403225"/>
            <a:ext cx="914400" cy="914400"/>
          </a:xfrm>
          <a:prstGeom prst="rect">
            <a:avLst/>
          </a:prstGeom>
        </p:spPr>
      </p:pic>
      <p:sp>
        <p:nvSpPr>
          <p:cNvPr id="8" name="CasellaDiTesto 7">
            <a:extLst>
              <a:ext uri="{FF2B5EF4-FFF2-40B4-BE49-F238E27FC236}">
                <a16:creationId xmlns:a16="http://schemas.microsoft.com/office/drawing/2014/main" id="{F65B036F-8F2A-2FA5-076A-53366A7191DD}"/>
              </a:ext>
            </a:extLst>
          </p:cNvPr>
          <p:cNvSpPr txBox="1"/>
          <p:nvPr/>
        </p:nvSpPr>
        <p:spPr>
          <a:xfrm>
            <a:off x="3535485" y="1989151"/>
            <a:ext cx="364202" cy="307777"/>
          </a:xfrm>
          <a:prstGeom prst="rect">
            <a:avLst/>
          </a:prstGeom>
          <a:noFill/>
        </p:spPr>
        <p:txBody>
          <a:bodyPr wrap="none" rtlCol="0">
            <a:spAutoFit/>
          </a:bodyPr>
          <a:lstStyle/>
          <a:p>
            <a:r>
              <a:rPr lang="en-US" sz="1400" dirty="0"/>
              <a:t>…</a:t>
            </a:r>
          </a:p>
        </p:txBody>
      </p:sp>
      <p:sp>
        <p:nvSpPr>
          <p:cNvPr id="9" name="CasellaDiTesto 8">
            <a:extLst>
              <a:ext uri="{FF2B5EF4-FFF2-40B4-BE49-F238E27FC236}">
                <a16:creationId xmlns:a16="http://schemas.microsoft.com/office/drawing/2014/main" id="{D0080B99-83FF-D313-C7D9-280987223CE9}"/>
              </a:ext>
            </a:extLst>
          </p:cNvPr>
          <p:cNvSpPr txBox="1"/>
          <p:nvPr/>
        </p:nvSpPr>
        <p:spPr>
          <a:xfrm>
            <a:off x="3585498" y="2536825"/>
            <a:ext cx="364202" cy="307777"/>
          </a:xfrm>
          <a:prstGeom prst="rect">
            <a:avLst/>
          </a:prstGeom>
          <a:noFill/>
        </p:spPr>
        <p:txBody>
          <a:bodyPr wrap="none" rtlCol="0">
            <a:spAutoFit/>
          </a:bodyPr>
          <a:lstStyle/>
          <a:p>
            <a:r>
              <a:rPr lang="en-US" sz="1400" dirty="0"/>
              <a:t>…</a:t>
            </a:r>
          </a:p>
        </p:txBody>
      </p:sp>
      <p:sp>
        <p:nvSpPr>
          <p:cNvPr id="10" name="CasellaDiTesto 9">
            <a:extLst>
              <a:ext uri="{FF2B5EF4-FFF2-40B4-BE49-F238E27FC236}">
                <a16:creationId xmlns:a16="http://schemas.microsoft.com/office/drawing/2014/main" id="{B8285F25-8064-5E12-4C58-20B001C132A9}"/>
              </a:ext>
            </a:extLst>
          </p:cNvPr>
          <p:cNvSpPr txBox="1"/>
          <p:nvPr/>
        </p:nvSpPr>
        <p:spPr>
          <a:xfrm>
            <a:off x="2847082" y="2315945"/>
            <a:ext cx="2411238" cy="276999"/>
          </a:xfrm>
          <a:prstGeom prst="rect">
            <a:avLst/>
          </a:prstGeom>
          <a:noFill/>
        </p:spPr>
        <p:txBody>
          <a:bodyPr wrap="none" rtlCol="0">
            <a:spAutoFit/>
          </a:bodyPr>
          <a:lstStyle/>
          <a:p>
            <a:r>
              <a:rPr lang="en-US" sz="1200" dirty="0">
                <a:solidFill>
                  <a:srgbClr val="3F78D3"/>
                </a:solidFill>
              </a:rPr>
              <a:t>Performance of extended model </a:t>
            </a:r>
          </a:p>
        </p:txBody>
      </p:sp>
      <p:sp>
        <p:nvSpPr>
          <p:cNvPr id="11" name="CasellaDiTesto 10">
            <a:extLst>
              <a:ext uri="{FF2B5EF4-FFF2-40B4-BE49-F238E27FC236}">
                <a16:creationId xmlns:a16="http://schemas.microsoft.com/office/drawing/2014/main" id="{295185DC-E8D1-CE50-76CE-992EA719DB48}"/>
              </a:ext>
            </a:extLst>
          </p:cNvPr>
          <p:cNvSpPr txBox="1"/>
          <p:nvPr/>
        </p:nvSpPr>
        <p:spPr>
          <a:xfrm>
            <a:off x="2815829" y="1754744"/>
            <a:ext cx="2258952" cy="276999"/>
          </a:xfrm>
          <a:prstGeom prst="rect">
            <a:avLst/>
          </a:prstGeom>
          <a:noFill/>
        </p:spPr>
        <p:txBody>
          <a:bodyPr wrap="none" rtlCol="0">
            <a:spAutoFit/>
          </a:bodyPr>
          <a:lstStyle/>
          <a:p>
            <a:r>
              <a:rPr lang="en-US" sz="1200" dirty="0">
                <a:solidFill>
                  <a:srgbClr val="3F78D3"/>
                </a:solidFill>
              </a:rPr>
              <a:t>Performance of shorter model </a:t>
            </a:r>
          </a:p>
        </p:txBody>
      </p:sp>
    </p:spTree>
    <p:extLst>
      <p:ext uri="{BB962C8B-B14F-4D97-AF65-F5344CB8AC3E}">
        <p14:creationId xmlns:p14="http://schemas.microsoft.com/office/powerpoint/2010/main" val="22161033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407AB66-B7A0-638A-0624-E07BD09373B4}"/>
              </a:ext>
            </a:extLst>
          </p:cNvPr>
          <p:cNvSpPr>
            <a:spLocks noGrp="1"/>
          </p:cNvSpPr>
          <p:nvPr>
            <p:ph type="title"/>
          </p:nvPr>
        </p:nvSpPr>
        <p:spPr>
          <a:xfrm>
            <a:off x="131306" y="35542"/>
            <a:ext cx="4561840" cy="261610"/>
          </a:xfrm>
        </p:spPr>
        <p:txBody>
          <a:bodyPr/>
          <a:lstStyle/>
          <a:p>
            <a:r>
              <a:rPr lang="en-US" dirty="0"/>
              <a:t>Conclusions </a:t>
            </a:r>
          </a:p>
        </p:txBody>
      </p:sp>
      <p:sp>
        <p:nvSpPr>
          <p:cNvPr id="3" name="Segnaposto testo 2">
            <a:extLst>
              <a:ext uri="{FF2B5EF4-FFF2-40B4-BE49-F238E27FC236}">
                <a16:creationId xmlns:a16="http://schemas.microsoft.com/office/drawing/2014/main" id="{2D2187BE-AD0E-701D-95CA-3DF16798E71E}"/>
              </a:ext>
            </a:extLst>
          </p:cNvPr>
          <p:cNvSpPr>
            <a:spLocks noGrp="1"/>
          </p:cNvSpPr>
          <p:nvPr>
            <p:ph type="body" idx="1"/>
          </p:nvPr>
        </p:nvSpPr>
        <p:spPr>
          <a:xfrm>
            <a:off x="215900" y="479425"/>
            <a:ext cx="5439410" cy="738664"/>
          </a:xfrm>
        </p:spPr>
        <p:txBody>
          <a:bodyPr/>
          <a:lstStyle/>
          <a:p>
            <a:r>
              <a:rPr lang="en-US" dirty="0"/>
              <a:t>Its seems that the shorter model with have more good performance on</a:t>
            </a:r>
          </a:p>
          <a:p>
            <a:r>
              <a:rPr lang="en-US" dirty="0"/>
              <a:t>restricted proposition but when it’s become more larger the larger one </a:t>
            </a:r>
          </a:p>
          <a:p>
            <a:r>
              <a:rPr lang="en-US" dirty="0"/>
              <a:t>have more good performance. The other fact is that there </a:t>
            </a:r>
          </a:p>
          <a:p>
            <a:r>
              <a:rPr lang="en-US" dirty="0"/>
              <a:t>are to loss example and the larger model go to overfit them.</a:t>
            </a:r>
          </a:p>
        </p:txBody>
      </p:sp>
      <p:pic>
        <p:nvPicPr>
          <p:cNvPr id="15" name="Elemento grafico 14" descr="Penna stilografica con riempimento a tinta unita">
            <a:extLst>
              <a:ext uri="{FF2B5EF4-FFF2-40B4-BE49-F238E27FC236}">
                <a16:creationId xmlns:a16="http://schemas.microsoft.com/office/drawing/2014/main" id="{CBB6E09B-D14C-3B51-87E0-3B0FCDA7079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03358" y="579681"/>
            <a:ext cx="646542" cy="646542"/>
          </a:xfrm>
          <a:prstGeom prst="rect">
            <a:avLst/>
          </a:prstGeom>
        </p:spPr>
      </p:pic>
      <p:pic>
        <p:nvPicPr>
          <p:cNvPr id="4098" name="Picture 2" descr="Getting all emotional with BERT">
            <a:extLst>
              <a:ext uri="{FF2B5EF4-FFF2-40B4-BE49-F238E27FC236}">
                <a16:creationId xmlns:a16="http://schemas.microsoft.com/office/drawing/2014/main" id="{EC44816C-6850-F74C-D036-C5C157BE68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1300" y="1622425"/>
            <a:ext cx="2610556" cy="14684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6211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917</TotalTime>
  <Words>1257</Words>
  <Application>Microsoft Macintosh PowerPoint</Application>
  <PresentationFormat>Personalizzato</PresentationFormat>
  <Paragraphs>131</Paragraphs>
  <Slides>17</Slides>
  <Notes>1</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17</vt:i4>
      </vt:variant>
    </vt:vector>
  </HeadingPairs>
  <TitlesOfParts>
    <vt:vector size="24" baseType="lpstr">
      <vt:lpstr>Aptos</vt:lpstr>
      <vt:lpstr>Arial</vt:lpstr>
      <vt:lpstr>Calibri</vt:lpstr>
      <vt:lpstr>Cambria Math</vt:lpstr>
      <vt:lpstr>Inter</vt:lpstr>
      <vt:lpstr>Lucida Sans Unicode</vt:lpstr>
      <vt:lpstr>Office Theme</vt:lpstr>
      <vt:lpstr>Machine Learning</vt:lpstr>
      <vt:lpstr>Presentazione standard di PowerPoint</vt:lpstr>
      <vt:lpstr>Dependencies</vt:lpstr>
      <vt:lpstr>About the project </vt:lpstr>
      <vt:lpstr>Steps in the project </vt:lpstr>
      <vt:lpstr>Loading of the libraries  </vt:lpstr>
      <vt:lpstr>The dataset    </vt:lpstr>
      <vt:lpstr>Splitting the data </vt:lpstr>
      <vt:lpstr>Selecting the model </vt:lpstr>
      <vt:lpstr>Defining the model structure </vt:lpstr>
      <vt:lpstr>Fine Tuning </vt:lpstr>
      <vt:lpstr>Metrics evaluated </vt:lpstr>
      <vt:lpstr>Metrics evaluated </vt:lpstr>
      <vt:lpstr>Performance on the validation data</vt:lpstr>
      <vt:lpstr>Performance on the test data</vt:lpstr>
      <vt:lpstr>Performance on the manually input data </vt:lpstr>
      <vt:lpstr>Conclusions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Neural Networks and Deep Learning: Fundamentals - Machine Learning</dc:title>
  <dc:creator>Gabriele Russo Russo, Francesco Lo Presti</dc:creator>
  <cp:lastModifiedBy>francesco d'amata</cp:lastModifiedBy>
  <cp:revision>4</cp:revision>
  <dcterms:created xsi:type="dcterms:W3CDTF">2025-02-25T09:42:01Z</dcterms:created>
  <dcterms:modified xsi:type="dcterms:W3CDTF">2025-03-02T10:18:08Z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2025-02-25T00:00:00Z</vt:filetime>
  </property>
  <property fmtid="{D5CDD505-2E9C-101B-9397-08002B2CF9AE}" pid="3" name="Creator">
    <vt:lpwstr>LaTeX with Beamer class</vt:lpwstr>
  </property>
  <property fmtid="{D5CDD505-2E9C-101B-9397-08002B2CF9AE}" pid="4" name="LastSaved">
    <vt:filetime>2025-02-25T00:00:00Z</vt:filetime>
  </property>
  <property fmtid="{D5CDD505-2E9C-101B-9397-08002B2CF9AE}" pid="5" name="Producer">
    <vt:lpwstr>GPL Ghostscript 9.26</vt:lpwstr>
  </property>
</Properties>
</file>